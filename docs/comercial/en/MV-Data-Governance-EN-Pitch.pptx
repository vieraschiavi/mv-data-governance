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</c:v>
                </c:pt>
              </c:strCache>
            </c:strRef>
          </c:tx>
          <c:spPr>
            <a:solidFill>
              <a:srgbClr val="DC5F53"/>
            </a:solidFill>
            <a:ln w="31750" cap="flat">
              <a:solidFill>
                <a:srgbClr val="DC5F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C5F53"/>
              </a:solidFill>
              <a:ln w="9525" cap="flat">
                <a:solidFill>
                  <a:srgbClr val="DC5F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</c:v>
                </c:pt>
                <c:pt idx="1">
                  <c:v>2.4</c:v>
                </c:pt>
                <c:pt idx="2">
                  <c:v>5.7</c:v>
                </c:pt>
                <c:pt idx="3">
                  <c:v>15.3</c:v>
                </c:pt>
                <c:pt idx="4">
                  <c:v>29.3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E6A636"/>
            </a:solidFill>
            <a:ln w="31750" cap="flat">
              <a:solidFill>
                <a:srgbClr val="E6A6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6A636"/>
              </a:solidFill>
              <a:ln w="9525" cap="flat">
                <a:solidFill>
                  <a:srgbClr val="E6A6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6.8</c:v>
                </c:pt>
                <c:pt idx="2">
                  <c:v>16.4</c:v>
                </c:pt>
                <c:pt idx="3">
                  <c:v>44.8</c:v>
                </c:pt>
                <c:pt idx="4">
                  <c:v>86.2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</c:v>
                </c:pt>
              </c:strCache>
            </c:strRef>
          </c:tx>
          <c:spPr>
            <a:solidFill>
              <a:srgbClr val="2FB783"/>
            </a:solidFill>
            <a:ln w="31750" cap="flat">
              <a:solidFill>
                <a:srgbClr val="2FB78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FB783"/>
              </a:solidFill>
              <a:ln w="9525" cap="flat">
                <a:solidFill>
                  <a:srgbClr val="2FB78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17</c:v>
                </c:pt>
                <c:pt idx="2">
                  <c:v>40.2</c:v>
                </c:pt>
                <c:pt idx="3">
                  <c:v>106.1</c:v>
                </c:pt>
                <c:pt idx="4">
                  <c:v>199.8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"/>
          <c:min val="0"/>
        </c:scaling>
        <c:delete val="0"/>
        <c:axPos val="l"/>
        <c:majorGridlines>
          <c:spPr>
            <a:ln w="6350" cap="flat">
              <a:solidFill>
                <a:srgbClr val="24405C"/>
              </a:solidFill>
              <a:prstDash val="solid"/>
              <a:round/>
            </a:ln>
          </c:spPr>
        </c:majorGridlines>
        <c:numFmt formatCode="#&quot;k&quot;" sourceLinked="0"/>
        <c:majorTickMark val="out"/>
        <c:minorTickMark val="none"/>
        <c:tickLblPos val="nextTo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solidFill>
          <a:srgbClr val="0E2138"/>
        </a:solidFill>
        <a:ln>
          <a:noFill/>
        </a:ln>
        <a:effectLst/>
      </c:spPr>
    </c:plotArea>
    <c:plotVisOnly val="1"/>
    <c:dispBlanksAs val="span"/>
  </c:chart>
  <c:spPr>
    <a:solidFill>
      <a:srgbClr val="0E213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</c:v>
                </c:pt>
              </c:strCache>
            </c:strRef>
          </c:tx>
          <c:spPr>
            <a:solidFill>
              <a:srgbClr val="DC5F53"/>
            </a:solidFill>
            <a:ln w="31750" cap="flat">
              <a:solidFill>
                <a:srgbClr val="DC5F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C5F53"/>
              </a:solidFill>
              <a:ln w="9525" cap="flat">
                <a:solidFill>
                  <a:srgbClr val="DC5F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3</c:v>
                </c:pt>
                <c:pt idx="2">
                  <c:v>7.4</c:v>
                </c:pt>
                <c:pt idx="3">
                  <c:v>20.5</c:v>
                </c:pt>
                <c:pt idx="4">
                  <c:v>39.9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E6A636"/>
            </a:solidFill>
            <a:ln w="31750" cap="flat">
              <a:solidFill>
                <a:srgbClr val="E6A6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6A636"/>
              </a:solidFill>
              <a:ln w="9525" cap="flat">
                <a:solidFill>
                  <a:srgbClr val="E6A6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3.6</c:v>
                </c:pt>
                <c:pt idx="1">
                  <c:v>12.3</c:v>
                </c:pt>
                <c:pt idx="2">
                  <c:v>29.2</c:v>
                </c:pt>
                <c:pt idx="3">
                  <c:v>77.5</c:v>
                </c:pt>
                <c:pt idx="4">
                  <c:v>146.3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</c:v>
                </c:pt>
              </c:strCache>
            </c:strRef>
          </c:tx>
          <c:spPr>
            <a:solidFill>
              <a:srgbClr val="2FB783"/>
            </a:solidFill>
            <a:ln w="31750" cap="flat">
              <a:solidFill>
                <a:srgbClr val="2FB78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FB783"/>
              </a:solidFill>
              <a:ln w="9525" cap="flat">
                <a:solidFill>
                  <a:srgbClr val="2FB78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9.1</c:v>
                </c:pt>
                <c:pt idx="1">
                  <c:v>30.8</c:v>
                </c:pt>
                <c:pt idx="2">
                  <c:v>72.8</c:v>
                </c:pt>
                <c:pt idx="3">
                  <c:v>192.1</c:v>
                </c:pt>
                <c:pt idx="4">
                  <c:v>361.1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"/>
          <c:min val="0"/>
        </c:scaling>
        <c:delete val="0"/>
        <c:axPos val="l"/>
        <c:majorGridlines>
          <c:spPr>
            <a:ln w="6350" cap="flat">
              <a:solidFill>
                <a:srgbClr val="24405C"/>
              </a:solidFill>
              <a:prstDash val="solid"/>
              <a:round/>
            </a:ln>
          </c:spPr>
        </c:majorGridlines>
        <c:numFmt formatCode="#&quot;k&quot;" sourceLinked="0"/>
        <c:majorTickMark val="out"/>
        <c:minorTickMark val="none"/>
        <c:tickLblPos val="nextTo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solidFill>
          <a:srgbClr val="0E2138"/>
        </a:solidFill>
        <a:ln>
          <a:noFill/>
        </a:ln>
        <a:effectLst/>
      </c:spPr>
    </c:plotArea>
    <c:plotVisOnly val="1"/>
    <c:dispBlanksAs val="span"/>
  </c:chart>
  <c:spPr>
    <a:solidFill>
      <a:srgbClr val="0E21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governance is broken for 95% of the region's companies.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owns “governance + collections, in the local language, running on-prem, for LATAM's mid-market lenders/SMEs”.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tiers. Each with a distinct job in the funnel.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Services-led: the project pays for today, the subscription builds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 US$86–146k over 18 months. Solo. Without burning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futures, same scale, no inflation.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Uruguay to validate. LATAM is the thesis. The world, the tailwind.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content engine that feeds the funnel, with one real 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selling it solo to having a team — hiring against recurring revenue, not against hope.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plan without this slide is marketing. Here's what can sink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not capital to survive. It's the decision to accelerate.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920240"/>
            <a:ext cx="5669280" cy="5669280"/>
          </a:xfrm>
          <a:prstGeom prst="ellipse">
            <a:avLst/>
          </a:prstGeom>
          <a:solidFill>
            <a:srgbClr val="F2B44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97280"/>
            <a:ext cx="3291840" cy="3291840"/>
          </a:xfrm>
          <a:prstGeom prst="ellipse">
            <a:avLst/>
          </a:prstGeom>
          <a:solidFill>
            <a:srgbClr val="F2B441">
              <a:alpha val="3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6692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2B44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57607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 Data Governance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886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VieraSchiavi · Uruguay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10607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9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+ collections,</a:t>
            </a:r>
            <a:endParaRPr lang="en-US" sz="3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9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LATAM nobody serves.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566928" y="3913632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Serious, in your team's own language, running on the client's own infrastructure. The big players sell expensive and in English; we come in through the mid-sized lender and SME — where the collections pain is concrete and the cycle is weeks, not quarters.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5532120"/>
            <a:ext cx="11027664" cy="0"/>
          </a:xfrm>
          <a:prstGeom prst="line">
            <a:avLst/>
          </a:prstGeom>
          <a:noFill/>
          <a:ln w="12700">
            <a:solidFill>
              <a:srgbClr val="2440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5806440"/>
            <a:ext cx="25923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Stage: </a:t>
            </a:r>
            <a:pPr indent="0" marL="0">
              <a:buNone/>
            </a:pPr>
            <a:r>
              <a:rPr lang="en-US" sz="12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pilot-ready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9292" y="5806440"/>
            <a:ext cx="25923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</a:t>
            </a:r>
            <a:pPr indent="0" marL="0">
              <a:buNone/>
            </a:pPr>
            <a:r>
              <a:rPr lang="en-US" sz="12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services-led + recurring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91656" y="5806440"/>
            <a:ext cx="1348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</a:t>
            </a:r>
            <a:pPr indent="0" marL="0">
              <a:buNone/>
            </a:pPr>
            <a:r>
              <a:rPr lang="en-US" sz="12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is broken for 95% of the region's companies.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91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 that exist solve a global bank's problem, not a Uruguayan lender's. And a company that governs its data badly, collects badly: data quality → recovery.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3468624" cy="3017520"/>
          </a:xfrm>
          <a:prstGeom prst="roundRect">
            <a:avLst>
              <a:gd name="adj" fmla="val 272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0685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10712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123944"/>
            <a:ext cx="295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Collibra, Alation, Informatica: enterprise budgets, dollar licenses an SME won't sign.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6448" y="2606040"/>
            <a:ext cx="3468624" cy="3017520"/>
          </a:xfrm>
          <a:prstGeom prst="roundRect">
            <a:avLst>
              <a:gd name="adj" fmla="val 272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248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0685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024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2480" y="3410712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English-only and cloud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02480" y="4123944"/>
            <a:ext cx="295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UI and support, and sensitive data that has to leave for an external tenant — an instant security blocker.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5968" y="2606040"/>
            <a:ext cx="3468624" cy="3017520"/>
          </a:xfrm>
          <a:prstGeom prst="roundRect">
            <a:avLst>
              <a:gd name="adj" fmla="val 272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0685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3410712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“do it yourself”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2000" y="4123944"/>
            <a:ext cx="295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(OpenMetadata) is free, but you have to assemble it, maintain it, and there's no Spanish support.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owns “governance + collections, in the local language, running on-prem, for LATAM's mid-market lenders/SMEs”.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fronts compete around the gap, none inside it. That unserved seam is the thesis.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7480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88920"/>
                <a:gridCol w="2880360"/>
                <a:gridCol w="3072384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leads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Their weak spot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angle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governance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Collibra, Purview, Informatica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expensive, English, cloud, enterprise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affordable, on-prem, trilingual, SME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OpenMetadata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“assemble it yourself”, no ES support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finished product + implementation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Collections LATAM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Colektia, Moonflow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they collect, don't govern the 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govern the data that drives recovery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banking UY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Bantotal (~70% of banking)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it's the core, doesn't play in SME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don't fight it: alongside, mid-market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tiers. Each with a distinct job in the funnel.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68624" cy="2743200"/>
          </a:xfrm>
          <a:prstGeom prst="roundRect">
            <a:avLst>
              <a:gd name="adj" fmla="val 30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12264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12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demo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862072"/>
            <a:ext cx="295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synthetic, no internet. The Trojan horse: the prospect tries it without asking security for permission. A real review said it “unblocked security approval for a frictionless pilot”.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6448" y="1874520"/>
            <a:ext cx="3468624" cy="2743200"/>
          </a:xfrm>
          <a:prstGeom prst="roundRect">
            <a:avLst>
              <a:gd name="adj" fmla="val 3000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2480" y="2112264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02480" y="2112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02480" y="244144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editions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02480" y="2862072"/>
            <a:ext cx="295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US$149 PC license (one-time) · US$390/mo Professional · AI credits US$9/39/149. Already chargeable via MercadoPago in USD.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5968" y="1874520"/>
            <a:ext cx="3468624" cy="2743200"/>
          </a:xfrm>
          <a:prstGeom prst="roundRect">
            <a:avLst>
              <a:gd name="adj" fmla="val 30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2000" y="2112264"/>
            <a:ext cx="753466" cy="256032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2112264"/>
            <a:ext cx="75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82000" y="244144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edition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82000" y="2862072"/>
            <a:ext cx="295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source + own server. Not a SKU: it's the vehicle to deliver implementations on each client's DB/ERP. That's where the margin 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937760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937760"/>
            <a:ext cx="54864" cy="118872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10235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STATUS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5394960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 tests · 46/46 self-check · trilingual · runs 100% local.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(catalog, quality, lineage, data contracts) is solid for pilots today. Online payments are already live.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Services-led: the project pays for today, the subscription builds tomorrow.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591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“SaaS that sells itself”. We come in as the specialist who implements, charge the project upfront, and leave the software running as recurring revenue.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demo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6384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Enters with no security friction. Generates the lead.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13532" y="2606040"/>
            <a:ext cx="2926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7852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7308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7308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07308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on their DB/ERP. US$3–8k upfront.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34456" y="2606040"/>
            <a:ext cx="2926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08776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28232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stays running. US$390/mo recurring.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55380" y="2606040"/>
            <a:ext cx="2926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29700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49156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49156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49156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modules, more areas, referral to the next lender.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937760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4937760"/>
            <a:ext cx="54864" cy="118872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10235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" y="5394960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 upfront makes the business cash-positive from month 1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valley of death. The subscription attach is what turns it from “an expensive consultant capped by hours” into an asset that grows while you sleep.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· BASE CASE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US$86–146k over 18 months. Solo. Without burning capital.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US$86–146k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net · 18m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without / with ad spend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48912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3232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3232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Cash-positive from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3232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all 3 scenarios · projects charged upfront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30896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5216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US$2.9–5.0k/mo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05216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recurring @18m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05216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 that scale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892040"/>
            <a:ext cx="54864" cy="123444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05663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TRANSLATED TO INCOME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5349240"/>
            <a:ext cx="10479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without ads ≈ US$4,800/mo avg over 18m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more than double Uruguay's average IT salary (US$2,300). The risk isn't cash: it's closing the deals.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futures, same scale, no inflation.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58384" cy="3813048"/>
          </a:xfrm>
          <a:prstGeom prst="roundRect">
            <a:avLst>
              <a:gd name="adj" fmla="val 2158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11226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net — WITHOUT ad spend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38658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/ referrals · USD cumulative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76656" y="2679192"/>
          <a:ext cx="513892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36208" y="1965960"/>
            <a:ext cx="5358384" cy="3813048"/>
          </a:xfrm>
          <a:prstGeom prst="roundRect">
            <a:avLst>
              <a:gd name="adj" fmla="val 2158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55664" y="211226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net — WITH ad spend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55664" y="238658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+US$400/mo in ads · USD cumulative</a:t>
            </a:r>
            <a:endParaRPr lang="en-US" sz="10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345936" y="2679192"/>
          <a:ext cx="513892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566928" y="5971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C5F53"/>
          </a:solidFill>
          <a:ln/>
        </p:spPr>
      </p:sp>
      <p:sp>
        <p:nvSpPr>
          <p:cNvPr id="13" name="Text 9"/>
          <p:cNvSpPr/>
          <p:nvPr/>
        </p:nvSpPr>
        <p:spPr>
          <a:xfrm>
            <a:off x="786384" y="5907024"/>
            <a:ext cx="1020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Pessimistic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081174" y="5971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6A636"/>
          </a:solidFill>
          <a:ln/>
        </p:spPr>
      </p:sp>
      <p:sp>
        <p:nvSpPr>
          <p:cNvPr id="15" name="Text 11"/>
          <p:cNvSpPr/>
          <p:nvPr/>
        </p:nvSpPr>
        <p:spPr>
          <a:xfrm>
            <a:off x="2300630" y="5907024"/>
            <a:ext cx="1576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(we plan here)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151376" y="5971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FB783"/>
          </a:solidFill>
          <a:ln/>
        </p:spPr>
      </p:sp>
      <p:sp>
        <p:nvSpPr>
          <p:cNvPr id="17" name="Text 13"/>
          <p:cNvSpPr/>
          <p:nvPr/>
        </p:nvSpPr>
        <p:spPr>
          <a:xfrm>
            <a:off x="4370832" y="5907024"/>
            <a:ext cx="35222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— aspirational, already needs a team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Uruguay to validate. LATAM is the thesis. The world, the tailwind.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🇺🇾 UY core accounts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banks, ~35 lenders, 34 health co-ops, state-owned. +850 large private firms (INE).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48912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3232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~8,400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3232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LATAM core accounts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3232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~70–80× UY by GDP. Real edge: trilingual and local.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30896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5216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US$12–18bn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05216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Global TAM 2030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05216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growing ~19–22%/yr. The tailwind, not the target.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892040"/>
            <a:ext cx="54864" cy="123444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05663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ENTER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5349240"/>
            <a:ext cx="10479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 mid-sized lender / credit administrator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short cycle, clear recovery pain. Not the 11 banks (9–15 month cycle, and they'll ask for SOC 2/ISO). Uruguay validates; LATAM scales.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content engine that feeds the funnel, with one real face.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91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 pieces/month, a real identity (Martín Viera), no fake personas or hype. Content doesn't sell on its own: it builds authority and brings leads to the demo, which closes with implementation.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3468624" cy="1965960"/>
          </a:xfrm>
          <a:prstGeom prst="roundRect">
            <a:avLst>
              <a:gd name="adj" fmla="val 4186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35224"/>
            <a:ext cx="677570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35224"/>
            <a:ext cx="677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26440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685032"/>
            <a:ext cx="2956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+ X. “Data governance and collections in plain terms.” Builds the reputation that closes.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6448" y="2697480"/>
            <a:ext cx="3468624" cy="1965960"/>
          </a:xfrm>
          <a:prstGeom prst="roundRect">
            <a:avLst>
              <a:gd name="adj" fmla="val 4186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2480" y="2935224"/>
            <a:ext cx="1284732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02480" y="2935224"/>
            <a:ext cx="1284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· FOCUS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02480" y="326440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product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02480" y="3685032"/>
            <a:ext cx="2956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Mini-demos on synthetic data, problem→insight→CTA, one-pagers. Leads from collections/risk managers.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5968" y="2697480"/>
            <a:ext cx="3468624" cy="1965960"/>
          </a:xfrm>
          <a:prstGeom prst="roundRect">
            <a:avLst>
              <a:gd name="adj" fmla="val 4186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0" y="2935224"/>
            <a:ext cx="677570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935224"/>
            <a:ext cx="677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82000" y="326440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channel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82000" y="3685032"/>
            <a:ext cx="2956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60–90s Shorts/Reels, own script and voice. Spanish-speaking reach, top of funnel.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937760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937760"/>
            <a:ext cx="54864" cy="118872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10235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HONESTY, NOT A FACELESS PROMISE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5394960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US$400/mo in ads (LATAM CPL US$17–36) we buy ~10–18 B2B leads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~0.5–1 extra client/mo, and a client leaves US$3–8k. It pays for itself several times over if the funnel converts.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SCALES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selling it solo to having a team — hiring against recurring revenue, not against hope.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45059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2194560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— Solo.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deliver everything. Capacity ceiling ~2 implementations/mo. Goal: 5–15 clients, US$29–146k net. Zero hires, bank the cash.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236976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49300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89888" y="3236976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trigger.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when (a) recurring revenue covers a salary and (b) you're turning work away. A mid implementer in UY costs all-in ~US$4,500/mo.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279392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5354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89888" y="4279392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— First hire.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base/optimistic, recurring crosses US$4,500/mo around month 10–12. You double delivery capacity.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321808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5321808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2–3 — Micro-agency (3–4).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 sales + architecture, 2 implementers, 1 part-time on content. Only if recurring sustains payroll.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· DEVIL'S ADVOCATE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without this slide is marketing. Here's what can sink it.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514600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963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16736" y="2194560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factor 1.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depends on one person. Mitigation: document, don't promise SLAs you can't sustain, hire as soon as recurring allows.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236976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57016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3872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16736" y="3236976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untested live.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Purview/Collibra/Tableau/MCP are built against the docs, never against a real tenant. Mitigation: first enterprise as a paid pilot with a “first integration” expectation.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279392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599432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8114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16736" y="4279392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UY market.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 core accounts. LATAM isn't optional, it's the thesis; the language edge is the lever.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321808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641848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6235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16736" y="5321808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optimistic case is aspirational.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clients/mo solo at US$8k is unrealistic without a team. We plan with base; we celebrate if it's optimistic.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389120"/>
            <a:ext cx="5852160" cy="5852160"/>
          </a:xfrm>
          <a:prstGeom prst="ellipse">
            <a:avLst/>
          </a:prstGeom>
          <a:solidFill>
            <a:srgbClr val="F2B441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4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capital to survive. It's the decision to accelerate.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75564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is cash-positive solo, from month 1. The real question is whether we compress 18 months into 9: hire the first implementer earlier and switch on the content/ads engine instead of waiting for organic to allow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926080"/>
            <a:ext cx="5358384" cy="2057400"/>
          </a:xfrm>
          <a:prstGeom prst="roundRect">
            <a:avLst>
              <a:gd name="adj" fmla="val 40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3182112"/>
            <a:ext cx="1512418" cy="256032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182112"/>
            <a:ext cx="1512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 · BOOTSTRAP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51129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Solo, organic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3950208"/>
            <a:ext cx="48097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external capital. Base without ads: US$86k net over 18m, recurring US$2.9k/mo. Slower, 100% yours.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2926080"/>
            <a:ext cx="5358384" cy="2057400"/>
          </a:xfrm>
          <a:prstGeom prst="roundRect">
            <a:avLst>
              <a:gd name="adj" fmla="val 4000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0528" y="3182112"/>
            <a:ext cx="1588313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3182112"/>
            <a:ext cx="1588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B · ACCELERATE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10528" y="351129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+ early hire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0528" y="3950208"/>
            <a:ext cx="48097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~US$30–50k would buy ~6 months of an implementer + ads. Base with ads targets US$146k over 18m and recurring US$5.0k/mo, sooner.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193792"/>
            <a:ext cx="11027664" cy="0"/>
          </a:xfrm>
          <a:prstGeom prst="line">
            <a:avLst/>
          </a:prstGeom>
          <a:noFill/>
          <a:ln w="12700">
            <a:solidFill>
              <a:srgbClr val="2440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5376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next step: </a:t>
            </a:r>
            <a:pPr indent="0" marL="0"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paid pilot with a mid-sized lender.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5797296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Martín Viera</a:t>
            </a:r>
            <a:pPr indent="0" marL="0"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VieraSchiavi   ·   vieraschiavi@gmail.com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082528" y="546811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2B441"/>
          </a:solidFill>
          <a:ln/>
        </p:spPr>
      </p:sp>
      <p:sp>
        <p:nvSpPr>
          <p:cNvPr id="20" name="Text 18"/>
          <p:cNvSpPr/>
          <p:nvPr/>
        </p:nvSpPr>
        <p:spPr>
          <a:xfrm>
            <a:off x="11082528" y="5468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MV Data Governance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VieraSchiavi</dc:creator>
  <cp:lastModifiedBy>VieraSchiavi</cp:lastModifiedBy>
  <cp:revision>1</cp:revision>
  <dcterms:created xsi:type="dcterms:W3CDTF">2026-07-26T18:55:43Z</dcterms:created>
  <dcterms:modified xsi:type="dcterms:W3CDTF">2026-07-26T18:55:43Z</dcterms:modified>
</cp:coreProperties>
</file>