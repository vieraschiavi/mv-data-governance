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2B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10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58521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+ collections implementation · ES/PT/EN · runs local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891272" y="310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pilot-ready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91272" y="4983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 + recurring software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91272" y="685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 → LATAM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91272" y="8732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F2B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data governance today is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expensive, English-only and cloud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bring it to LATAM's lenders and SMEs: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affordable, in the local language and running on their own infra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we govern the data that drives their collections.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18M · BASE CASE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/ with ad spend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8041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671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RISK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671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671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cash-positive from month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0362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992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@18M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4992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US$2.9–5.0k/mo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4992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subscriptions, base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2683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313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7313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Pilot-ready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07313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tests · 46/46 self-check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9923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3328416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255264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demo (free)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100% synthetic, no internet. The Trojan horse: the prospect tries it without asking security for permission.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" y="3730752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657600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editions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PC license US$149 (one-time) · Professional US$390/mo · AI credits US$9/39/149. Already chargeable via MercadoPago in USD.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" y="4133088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059936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implementation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collections + governance on the client's DB/ERP. That's where the margin is and the door to the subscription.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59028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 (THE SEAM)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571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“data governance + collections, for LATAM's mid-market lender/SME, in the local language, running on-prem”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enterprise players (Collibra, Purview, Informatica) are expensive and in English; the collections players (Colektia, Moonflow) don't govern the data; open-source is “do it yourself”. We enter through the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lender / credit administrator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—short cycle, clear recovery pain— not the 11 banks (9–15 month cycle).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2999232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PROFITABILITY — BASE CASE (USD)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273552"/>
          <a:ext cx="5193792" cy="914400"/>
        </p:xfrm>
        <a:graphic>
          <a:graphicData uri="http://schemas.openxmlformats.org/drawingml/2006/table">
            <a:tbl>
              <a:tblPr/>
              <a:tblGrid>
                <a:gridCol w="1558138"/>
                <a:gridCol w="856976"/>
                <a:gridCol w="908914"/>
                <a:gridCol w="960852"/>
                <a:gridCol w="90891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no ads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2,875/mo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with ads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146,294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4,998/mo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Pessimistic · no ads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1,100/mo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Optimistic · with ads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192,089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361,144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10,235/mo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537960" y="4700016"/>
            <a:ext cx="5193792" cy="786384"/>
          </a:xfrm>
          <a:prstGeom prst="roundRect">
            <a:avLst>
              <a:gd name="adj" fmla="val 697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4700016"/>
            <a:ext cx="45720" cy="78638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41" name="Text 38"/>
          <p:cNvSpPr/>
          <p:nvPr/>
        </p:nvSpPr>
        <p:spPr>
          <a:xfrm>
            <a:off x="6720840" y="4791456"/>
            <a:ext cx="4873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CHANGES EVERYTHING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720840" y="4974336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Cash-positive from month 1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all three scenarios: projects are charged upfront, so there's no “valley of death” and no need for capital. The risk isn't running out of cash — it's not closing the deals.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Uruguay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6928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566928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accounts · validate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398776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08504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LATAM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508504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~8,400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2508504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accounts · scale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340352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450080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Global TAM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450080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4450080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+19–22%/yr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6537960" y="5532120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537960" y="553212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engine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529170" y="5532120"/>
            <a:ext cx="956462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529170" y="5532120"/>
            <a:ext cx="9564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live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577072" y="553212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8577072" y="553212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454896" y="5532120"/>
            <a:ext cx="2260397" cy="237744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9454896" y="5532120"/>
            <a:ext cx="22603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untested on a real tenant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537960" y="5843016"/>
            <a:ext cx="956462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6537960" y="5843016"/>
            <a:ext cx="9564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clients yet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585862" y="5843016"/>
            <a:ext cx="1013155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7585862" y="5843016"/>
            <a:ext cx="10131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SOC 2 / ISO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8690458" y="5843016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8690458" y="5843016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57200" y="6272784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228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8368" y="6336792"/>
            <a:ext cx="7068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step: a paid pilot with a mid-sized lender.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658368" y="6528816"/>
            <a:ext cx="7068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local demo → implementation project → software running. We don't need capital to start; we do to compress 18 months into 9.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799832" y="6272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algn="r" indent="0" marL="0">
              <a:buNone/>
            </a:pPr>
            <a:r>
              <a:rPr lang="en-US" sz="9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VieraSchiavi   ·   vieraschiavi@gmail.com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2026-07-26T19:10:20Z</dcterms:created>
  <dcterms:modified xsi:type="dcterms:W3CDTF">2026-07-26T19:10:20Z</dcterms:modified>
</cp:coreProperties>
</file>