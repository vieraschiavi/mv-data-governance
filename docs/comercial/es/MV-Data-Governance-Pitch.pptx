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pes</c:v>
                </c:pt>
              </c:strCache>
            </c:strRef>
          </c:tx>
          <c:spPr>
            <a:solidFill>
              <a:srgbClr val="DC5F53"/>
            </a:solidFill>
            <a:ln w="31750" cap="flat">
              <a:solidFill>
                <a:srgbClr val="DC5F5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DC5F53"/>
              </a:solidFill>
              <a:ln w="9525" cap="flat">
                <a:solidFill>
                  <a:srgbClr val="DC5F5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1m</c:v>
                  </c:pt>
                  <c:pt idx="1">
                    <c:v>3m</c:v>
                  </c:pt>
                  <c:pt idx="2">
                    <c:v>6m</c:v>
                  </c:pt>
                  <c:pt idx="3">
                    <c:v>12m</c:v>
                  </c:pt>
                  <c:pt idx="4">
                    <c:v>18m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</c:v>
                </c:pt>
                <c:pt idx="1">
                  <c:v>2.4</c:v>
                </c:pt>
                <c:pt idx="2">
                  <c:v>5.7</c:v>
                </c:pt>
                <c:pt idx="3">
                  <c:v>15.3</c:v>
                </c:pt>
                <c:pt idx="4">
                  <c:v>29.3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E6A636"/>
            </a:solidFill>
            <a:ln w="31750" cap="flat">
              <a:solidFill>
                <a:srgbClr val="E6A63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6A636"/>
              </a:solidFill>
              <a:ln w="9525" cap="flat">
                <a:solidFill>
                  <a:srgbClr val="E6A63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1m</c:v>
                  </c:pt>
                  <c:pt idx="1">
                    <c:v>3m</c:v>
                  </c:pt>
                  <c:pt idx="2">
                    <c:v>6m</c:v>
                  </c:pt>
                  <c:pt idx="3">
                    <c:v>12m</c:v>
                  </c:pt>
                  <c:pt idx="4">
                    <c:v>18m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6.8</c:v>
                </c:pt>
                <c:pt idx="2">
                  <c:v>16.4</c:v>
                </c:pt>
                <c:pt idx="3">
                  <c:v>44.8</c:v>
                </c:pt>
                <c:pt idx="4">
                  <c:v>86.2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opt</c:v>
                </c:pt>
              </c:strCache>
            </c:strRef>
          </c:tx>
          <c:spPr>
            <a:solidFill>
              <a:srgbClr val="2FB783"/>
            </a:solidFill>
            <a:ln w="31750" cap="flat">
              <a:solidFill>
                <a:srgbClr val="2FB78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2FB783"/>
              </a:solidFill>
              <a:ln w="9525" cap="flat">
                <a:solidFill>
                  <a:srgbClr val="2FB78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1m</c:v>
                  </c:pt>
                  <c:pt idx="1">
                    <c:v>3m</c:v>
                  </c:pt>
                  <c:pt idx="2">
                    <c:v>6m</c:v>
                  </c:pt>
                  <c:pt idx="3">
                    <c:v>12m</c:v>
                  </c:pt>
                  <c:pt idx="4">
                    <c:v>18m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5</c:v>
                </c:pt>
                <c:pt idx="1">
                  <c:v>17</c:v>
                </c:pt>
                <c:pt idx="2">
                  <c:v>40.2</c:v>
                </c:pt>
                <c:pt idx="3">
                  <c:v>106.1</c:v>
                </c:pt>
                <c:pt idx="4">
                  <c:v>199.8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4405C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C93A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80"/>
          <c:min val="0"/>
        </c:scaling>
        <c:delete val="0"/>
        <c:axPos val="l"/>
        <c:majorGridlines>
          <c:spPr>
            <a:ln w="6350" cap="flat">
              <a:solidFill>
                <a:srgbClr val="24405C"/>
              </a:solidFill>
              <a:prstDash val="solid"/>
              <a:round/>
            </a:ln>
          </c:spPr>
        </c:majorGridlines>
        <c:numFmt formatCode="#&quot;k&quot;" sourceLinked="0"/>
        <c:majorTickMark val="out"/>
        <c:minorTickMark val="none"/>
        <c:tickLblPos val="nextTo"/>
        <c:spPr>
          <a:ln w="12700" cap="flat">
            <a:solidFill>
              <a:srgbClr val="24405C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C93A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solidFill>
          <a:srgbClr val="0E2138"/>
        </a:solidFill>
        <a:ln>
          <a:noFill/>
        </a:ln>
        <a:effectLst/>
      </c:spPr>
    </c:plotArea>
    <c:plotVisOnly val="1"/>
    <c:dispBlanksAs val="span"/>
  </c:chart>
  <c:spPr>
    <a:solidFill>
      <a:srgbClr val="0E213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pes</c:v>
                </c:pt>
              </c:strCache>
            </c:strRef>
          </c:tx>
          <c:spPr>
            <a:solidFill>
              <a:srgbClr val="DC5F53"/>
            </a:solidFill>
            <a:ln w="31750" cap="flat">
              <a:solidFill>
                <a:srgbClr val="DC5F5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DC5F53"/>
              </a:solidFill>
              <a:ln w="9525" cap="flat">
                <a:solidFill>
                  <a:srgbClr val="DC5F5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1m</c:v>
                  </c:pt>
                  <c:pt idx="1">
                    <c:v>3m</c:v>
                  </c:pt>
                  <c:pt idx="2">
                    <c:v>6m</c:v>
                  </c:pt>
                  <c:pt idx="3">
                    <c:v>12m</c:v>
                  </c:pt>
                  <c:pt idx="4">
                    <c:v>18m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</c:v>
                </c:pt>
                <c:pt idx="1">
                  <c:v>3</c:v>
                </c:pt>
                <c:pt idx="2">
                  <c:v>7.4</c:v>
                </c:pt>
                <c:pt idx="3">
                  <c:v>20.5</c:v>
                </c:pt>
                <c:pt idx="4">
                  <c:v>39.9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E6A636"/>
            </a:solidFill>
            <a:ln w="31750" cap="flat">
              <a:solidFill>
                <a:srgbClr val="E6A63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6A636"/>
              </a:solidFill>
              <a:ln w="9525" cap="flat">
                <a:solidFill>
                  <a:srgbClr val="E6A63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1m</c:v>
                  </c:pt>
                  <c:pt idx="1">
                    <c:v>3m</c:v>
                  </c:pt>
                  <c:pt idx="2">
                    <c:v>6m</c:v>
                  </c:pt>
                  <c:pt idx="3">
                    <c:v>12m</c:v>
                  </c:pt>
                  <c:pt idx="4">
                    <c:v>18m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3.6</c:v>
                </c:pt>
                <c:pt idx="1">
                  <c:v>12.3</c:v>
                </c:pt>
                <c:pt idx="2">
                  <c:v>29.2</c:v>
                </c:pt>
                <c:pt idx="3">
                  <c:v>77.5</c:v>
                </c:pt>
                <c:pt idx="4">
                  <c:v>146.3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opt</c:v>
                </c:pt>
              </c:strCache>
            </c:strRef>
          </c:tx>
          <c:spPr>
            <a:solidFill>
              <a:srgbClr val="2FB783"/>
            </a:solidFill>
            <a:ln w="31750" cap="flat">
              <a:solidFill>
                <a:srgbClr val="2FB78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2FB783"/>
              </a:solidFill>
              <a:ln w="9525" cap="flat">
                <a:solidFill>
                  <a:srgbClr val="2FB78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1m</c:v>
                  </c:pt>
                  <c:pt idx="1">
                    <c:v>3m</c:v>
                  </c:pt>
                  <c:pt idx="2">
                    <c:v>6m</c:v>
                  </c:pt>
                  <c:pt idx="3">
                    <c:v>12m</c:v>
                  </c:pt>
                  <c:pt idx="4">
                    <c:v>18m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9.1</c:v>
                </c:pt>
                <c:pt idx="1">
                  <c:v>30.8</c:v>
                </c:pt>
                <c:pt idx="2">
                  <c:v>72.8</c:v>
                </c:pt>
                <c:pt idx="3">
                  <c:v>192.1</c:v>
                </c:pt>
                <c:pt idx="4">
                  <c:v>361.1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4405C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C93A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80"/>
          <c:min val="0"/>
        </c:scaling>
        <c:delete val="0"/>
        <c:axPos val="l"/>
        <c:majorGridlines>
          <c:spPr>
            <a:ln w="6350" cap="flat">
              <a:solidFill>
                <a:srgbClr val="24405C"/>
              </a:solidFill>
              <a:prstDash val="solid"/>
              <a:round/>
            </a:ln>
          </c:spPr>
        </c:majorGridlines>
        <c:numFmt formatCode="#&quot;k&quot;" sourceLinked="0"/>
        <c:majorTickMark val="out"/>
        <c:minorTickMark val="none"/>
        <c:tickLblPos val="nextTo"/>
        <c:spPr>
          <a:ln w="12700" cap="flat">
            <a:solidFill>
              <a:srgbClr val="24405C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C93A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solidFill>
          <a:srgbClr val="0E2138"/>
        </a:solidFill>
        <a:ln>
          <a:noFill/>
        </a:ln>
        <a:effectLst/>
      </c:spPr>
    </c:plotArea>
    <c:plotVisOnly val="1"/>
    <c:dispBlanksAs val="span"/>
  </c:chart>
  <c:spPr>
    <a:solidFill>
      <a:srgbClr val="0E213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gobierno de datos está roto para el 95% de las empresas de la región.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Nadie es dueño de “gobierno + cobranza, en español, corriendo local, para la PYME/financiera de LATAM”.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niveles. Cada uno con un trabajo distinto en el embudo.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Services-led: el proyecto paga el hoy, la suscripción construye el mañana.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Neto US$86–146k a 18 meses. Vos solo. Sin quemar capital.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futuros, misma escala, sin inflar.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Uruguay para validar. LATAM es la tesis. El mundo, el viento de cola.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motor de contenido que alimenta el embudo, con una sola cara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venderlo solo a tener equipo — contratando contra recurrente, no contra esperanza.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plan sin esta lámina es marketing. Esto es lo que puede hundirlo.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es capital para no morir. Es la decisión de acelerar.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920240"/>
            <a:ext cx="5669280" cy="5669280"/>
          </a:xfrm>
          <a:prstGeom prst="ellipse">
            <a:avLst/>
          </a:prstGeom>
          <a:solidFill>
            <a:srgbClr val="F2B44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-1097280"/>
            <a:ext cx="3291840" cy="3291840"/>
          </a:xfrm>
          <a:prstGeom prst="ellipse">
            <a:avLst/>
          </a:prstGeom>
          <a:solidFill>
            <a:srgbClr val="F2B441">
              <a:alpha val="3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566928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F2B441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57607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 Data Governance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80160" y="8869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VieraSchiavi · Uruguay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66928" y="1874520"/>
            <a:ext cx="10607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900" b="1" spc="-50" kern="0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Gobierno de datos + cobranza,</a:t>
            </a:r>
            <a:endParaRPr lang="en-US" sz="3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900" b="1" spc="-50" kern="0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la LATAM que nadie atiende.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566928" y="3913632"/>
            <a:ext cx="9052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Serio, en español, y corriendo en la infra del cliente. Los grandes venden caro y en inglés; nosotros entramos por la financiera y la PYME mediana — donde el dolor de recupero es concreto y el ciclo es de semanas.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66928" y="5532120"/>
            <a:ext cx="11027664" cy="0"/>
          </a:xfrm>
          <a:prstGeom prst="line">
            <a:avLst/>
          </a:prstGeom>
          <a:noFill/>
          <a:ln w="12700">
            <a:solidFill>
              <a:srgbClr val="2440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5806440"/>
            <a:ext cx="267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Etapa: </a:t>
            </a:r>
            <a:pPr indent="0" marL="0">
              <a:buNone/>
            </a:pPr>
            <a:r>
              <a:rPr lang="en-US" sz="125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pre-revenue, piloto-ready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557016" y="5806440"/>
            <a:ext cx="27477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Modelo: </a:t>
            </a:r>
            <a:pPr indent="0" marL="0">
              <a:buNone/>
            </a:pPr>
            <a:r>
              <a:rPr lang="en-US" sz="125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services-led + recurrente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624828" y="5806440"/>
            <a:ext cx="15041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Fecha: </a:t>
            </a:r>
            <a:pPr indent="0" marL="0">
              <a:buNone/>
            </a:pPr>
            <a:r>
              <a:rPr lang="en-US" sz="125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Julio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</a:t>
            </a:r>
            <a:pPr indent="0" marL="0">
              <a:buNone/>
            </a:pPr>
            <a:r>
              <a:rPr lang="en-US" sz="1250" b="1" spc="200" kern="0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27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gobierno de datos está roto para el 95% de las empresas de la región.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591056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herramientas que existen resuelven el problema de un banco global, no el de una financiera uruguaya. Y la que gobierna mal su dato, cobra mal: calidad de dato → recupero.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606040"/>
            <a:ext cx="3468624" cy="3017520"/>
          </a:xfrm>
          <a:prstGeom prst="roundRect">
            <a:avLst>
              <a:gd name="adj" fmla="val 2727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88036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E0685C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410712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4123944"/>
            <a:ext cx="2956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Collibra, Alation, Informatica: presupuestos enterprise, licencias en dólares que una PYME no firma.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6448" y="2606040"/>
            <a:ext cx="3468624" cy="3017520"/>
          </a:xfrm>
          <a:prstGeom prst="roundRect">
            <a:avLst>
              <a:gd name="adj" fmla="val 2727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02480" y="288036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E0685C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60248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02480" y="3410712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inglés y en la nube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02480" y="4123944"/>
            <a:ext cx="2956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Interfaz y soporte en inglés, y datos sensibles que tienen que salir a un tenant externo — freno inmediato de seguridad.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25968" y="2606040"/>
            <a:ext cx="3468624" cy="3017520"/>
          </a:xfrm>
          <a:prstGeom prst="roundRect">
            <a:avLst>
              <a:gd name="adj" fmla="val 2727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82000" y="288036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E0685C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38200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82000" y="3410712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“hágalo usted mismo”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82000" y="4123944"/>
            <a:ext cx="2956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open-source (OpenMetadata) es gratis pero hay que armarlo, mantenerlo y sin soporte en español.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</a:t>
            </a:r>
            <a:pPr indent="0" marL="0">
              <a:buNone/>
            </a:pPr>
            <a:r>
              <a:rPr lang="en-US" sz="1250" b="1" spc="200" kern="0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OPORTUNIDAD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276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Nadie es dueño de “gobierno + cobranza, en español, corriendo local, para la PYME/financiera de LATAM”.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66928" y="18745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frentes compiten alrededor del hueco, ninguno adentro. Ese seam desatendido es la tesis.</a:t>
            </a:r>
            <a:endParaRPr lang="en-US" sz="13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697480"/>
          <a:ext cx="11027664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788920"/>
                <a:gridCol w="2880360"/>
                <a:gridCol w="3072384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Frente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Quién manda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 punto débil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Nuestro ángulo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EF4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Gobierno de datos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Collibra, Purview, Informatica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caros, inglés, nube, enterprise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39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barato, local, trilingüe, PYME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3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EF4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Gobierno OSS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OpenMetadata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“armalo vos”, sin soporte 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39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producto terminado + implementación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EF4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Cobranza LATAM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Colektia, Moonflow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cobran, no gobiernan el dato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39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gobernamos el dato del recupero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3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EF4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bancario UY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Bantotal (~70% banca)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 el core, no juega en PYME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39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lo peleamos: al costado, mid-market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</a:t>
            </a:r>
            <a:pPr indent="0" marL="0">
              <a:buNone/>
            </a:pPr>
            <a:r>
              <a:rPr lang="en-US" sz="1250" b="1" spc="200" kern="0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27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niveles. Cada uno con un trabajo distinto en el embudo.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3468624" cy="2743200"/>
          </a:xfrm>
          <a:prstGeom prst="roundRect">
            <a:avLst>
              <a:gd name="adj" fmla="val 3000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12264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37C891">
              <a:alpha val="1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1226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7C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GRATIS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2441448"/>
            <a:ext cx="295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local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2862072"/>
            <a:ext cx="295656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sintética, sin internet. El caballo de Troya: el prospecto la prueba sin pedir permiso a seguridad. Un review real dijo que “destrabó la aprobación de seguridad para un piloto sin fricción”.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6448" y="1874520"/>
            <a:ext cx="3468624" cy="2743200"/>
          </a:xfrm>
          <a:prstGeom prst="roundRect">
            <a:avLst>
              <a:gd name="adj" fmla="val 3000"/>
            </a:avLst>
          </a:prstGeom>
          <a:solidFill>
            <a:srgbClr val="0E2138"/>
          </a:solidFill>
          <a:ln w="12700">
            <a:solidFill>
              <a:srgbClr val="E39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02480" y="2112264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E39A2E">
              <a:alpha val="1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602480" y="211226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02480" y="2441448"/>
            <a:ext cx="295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Versiones pagas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602480" y="2862072"/>
            <a:ext cx="295656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US$149 Licencia PC (único) · US$390/mes Professional · créditos IA US$9/39/149. Cobrables ya por MercadoPago en USD.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25968" y="1874520"/>
            <a:ext cx="3468624" cy="2743200"/>
          </a:xfrm>
          <a:prstGeom prst="roundRect">
            <a:avLst>
              <a:gd name="adj" fmla="val 3000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82000" y="2112264"/>
            <a:ext cx="677570" cy="256032"/>
          </a:xfrm>
          <a:prstGeom prst="roundRect">
            <a:avLst>
              <a:gd name="adj" fmla="val 50000"/>
            </a:avLst>
          </a:prstGeom>
          <a:solidFill>
            <a:srgbClr val="E0685C">
              <a:alpha val="18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382000" y="2112264"/>
            <a:ext cx="6775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0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382000" y="2441448"/>
            <a:ext cx="295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Versión owner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382000" y="2862072"/>
            <a:ext cx="295656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completo + servidor propio. No es un SKU: es el vehículo para entregar implementaciones sobre la BD/ERP de cada cliente. Ahí está el margen.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4937760"/>
            <a:ext cx="11027664" cy="1188720"/>
          </a:xfrm>
          <a:prstGeom prst="roundRect">
            <a:avLst>
              <a:gd name="adj" fmla="val 6923"/>
            </a:avLst>
          </a:prstGeom>
          <a:solidFill>
            <a:srgbClr val="22180A"/>
          </a:solidFill>
          <a:ln w="12700">
            <a:solidFill>
              <a:srgbClr val="5A462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4937760"/>
            <a:ext cx="54864" cy="1188720"/>
          </a:xfrm>
          <a:prstGeom prst="rect">
            <a:avLst/>
          </a:prstGeom>
          <a:solidFill>
            <a:srgbClr val="F2B441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5102352"/>
            <a:ext cx="10479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DEL PRODUCTO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1248" y="5394960"/>
            <a:ext cx="10479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242 tests · autochequeo 46/46 · trilingüe · corre 100% local.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motor (catálogo, calidad, linaje, contratos de datos) está sólido para pilotos hoy. Los cobros online ya están vivos.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</a:t>
            </a:r>
            <a:pPr indent="0" marL="0">
              <a:buNone/>
            </a:pPr>
            <a:r>
              <a:rPr lang="en-US" sz="1250" b="1" spc="200" kern="0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NEGOCIO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27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Services-led: el proyecto paga el hoy, la suscripción construye el mañana.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591056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“SaaS que se vende solo”. Entramos como especialista que implementa, cobramos el proyecto por adelantado, y dejamos el software corriendo como recurrente.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606040"/>
            <a:ext cx="2564892" cy="1874520"/>
          </a:xfrm>
          <a:prstGeom prst="roundRect">
            <a:avLst>
              <a:gd name="adj" fmla="val 4390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28072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3136392"/>
            <a:ext cx="2125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local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86384" y="3520440"/>
            <a:ext cx="21259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 sin fricción de seguridad. Genera el lead.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13532" y="2606040"/>
            <a:ext cx="29260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87852" y="2606040"/>
            <a:ext cx="2564892" cy="1874520"/>
          </a:xfrm>
          <a:prstGeom prst="roundRect">
            <a:avLst>
              <a:gd name="adj" fmla="val 4390"/>
            </a:avLst>
          </a:prstGeom>
          <a:solidFill>
            <a:srgbClr val="0E2138"/>
          </a:solidFill>
          <a:ln w="12700">
            <a:solidFill>
              <a:srgbClr val="E39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07308" y="28072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07308" y="3136392"/>
            <a:ext cx="2125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607308" y="3520440"/>
            <a:ext cx="21259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 sobre su BD/ERP. US$3–8k por adelantado.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34456" y="2606040"/>
            <a:ext cx="29260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08776" y="2606040"/>
            <a:ext cx="2564892" cy="1874520"/>
          </a:xfrm>
          <a:prstGeom prst="roundRect">
            <a:avLst>
              <a:gd name="adj" fmla="val 4390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8232" y="28072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28232" y="3136392"/>
            <a:ext cx="2125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428232" y="3520440"/>
            <a:ext cx="21259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Queda corriendo el Professional. US$390/mes recurrente.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755380" y="2606040"/>
            <a:ext cx="29260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029700" y="2606040"/>
            <a:ext cx="2564892" cy="1874520"/>
          </a:xfrm>
          <a:prstGeom prst="roundRect">
            <a:avLst>
              <a:gd name="adj" fmla="val 4390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49156" y="28072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49156" y="3136392"/>
            <a:ext cx="2125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Expansión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249156" y="3520440"/>
            <a:ext cx="21259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módulos, más áreas, referido a la próxima financiera.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4937760"/>
            <a:ext cx="11027664" cy="1188720"/>
          </a:xfrm>
          <a:prstGeom prst="roundRect">
            <a:avLst>
              <a:gd name="adj" fmla="val 6923"/>
            </a:avLst>
          </a:prstGeom>
          <a:solidFill>
            <a:srgbClr val="22180A"/>
          </a:solidFill>
          <a:ln w="12700">
            <a:solidFill>
              <a:srgbClr val="5A462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6928" y="4937760"/>
            <a:ext cx="54864" cy="1188720"/>
          </a:xfrm>
          <a:prstGeom prst="rect">
            <a:avLst/>
          </a:prstGeom>
          <a:solidFill>
            <a:srgbClr val="F2B441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" y="5102352"/>
            <a:ext cx="10479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IMPORTA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41248" y="5394960"/>
            <a:ext cx="10479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cobro por adelantado hace el negocio cash-positivo desde el mes 1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sin valle de la muerte. El attach de suscripción es lo que lo convierte de “consultor caro con techo de horas” en un activo que crece mientras dormís.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</a:t>
            </a:r>
            <a:pPr indent="0" marL="0">
              <a:buNone/>
            </a:pPr>
            <a:r>
              <a:rPr lang="en-US" sz="1250" b="1" spc="200" kern="0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NÚMEROS · CASO BASE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27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Neto US$86–146k a 18 meses. Vos solo. Sin quemar capital.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2148840"/>
            <a:ext cx="3663696" cy="2286000"/>
          </a:xfrm>
          <a:prstGeom prst="roundRect">
            <a:avLst>
              <a:gd name="adj" fmla="val 3600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514600"/>
            <a:ext cx="3160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US$86–146k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41248" y="3410712"/>
            <a:ext cx="3115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Neto acumulado · 18m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" y="3721608"/>
            <a:ext cx="3115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base, sin / con inversión en redes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48912" y="2148840"/>
            <a:ext cx="3663696" cy="2286000"/>
          </a:xfrm>
          <a:prstGeom prst="roundRect">
            <a:avLst>
              <a:gd name="adj" fmla="val 3600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3232" y="2514600"/>
            <a:ext cx="3160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37C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 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23232" y="3410712"/>
            <a:ext cx="3115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Cash-positivo desde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23232" y="3721608"/>
            <a:ext cx="3115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los 3 escenarios · proyectos cobrados por adelantado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30896" y="2148840"/>
            <a:ext cx="3663696" cy="2286000"/>
          </a:xfrm>
          <a:prstGeom prst="roundRect">
            <a:avLst>
              <a:gd name="adj" fmla="val 3600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05216" y="2514600"/>
            <a:ext cx="3160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US$2,9–5,0k/m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205216" y="3410712"/>
            <a:ext cx="3115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Recurrente vivo @18m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05216" y="3721608"/>
            <a:ext cx="3115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suscripciones que escalan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4892040"/>
            <a:ext cx="11027664" cy="1234440"/>
          </a:xfrm>
          <a:prstGeom prst="roundRect">
            <a:avLst>
              <a:gd name="adj" fmla="val 6667"/>
            </a:avLst>
          </a:prstGeom>
          <a:solidFill>
            <a:srgbClr val="22180A"/>
          </a:solidFill>
          <a:ln w="12700">
            <a:solidFill>
              <a:srgbClr val="5A462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4892040"/>
            <a:ext cx="54864" cy="1234440"/>
          </a:xfrm>
          <a:prstGeom prst="rect">
            <a:avLst/>
          </a:prstGeom>
          <a:solidFill>
            <a:srgbClr val="F2B441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5056632"/>
            <a:ext cx="10479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TRADUCIDO A INGRESO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1248" y="5349240"/>
            <a:ext cx="10479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sin redes ≈ US$4.800/mes promedio a 18m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más del doble del salario TI promedio uruguayo (US$2.300). El riesgo no es la caja: es cerrar los deals.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</a:t>
            </a:r>
            <a:pPr indent="0" marL="0">
              <a:buNone/>
            </a:pPr>
            <a:r>
              <a:rPr lang="en-US" sz="1250" b="1" spc="200" kern="0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ESCENARIOS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27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futuros, misma escala, sin inflar.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5358384" cy="3813048"/>
          </a:xfrm>
          <a:prstGeom prst="roundRect">
            <a:avLst>
              <a:gd name="adj" fmla="val 2158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2112264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Neto acumulado — SIN inversión en redes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86384" y="2386584"/>
            <a:ext cx="4919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orgánico / referidos · USD acumulado</a:t>
            </a:r>
            <a:endParaRPr lang="en-US" sz="10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76656" y="2679192"/>
          <a:ext cx="5138928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236208" y="1965960"/>
            <a:ext cx="5358384" cy="3813048"/>
          </a:xfrm>
          <a:prstGeom prst="roundRect">
            <a:avLst>
              <a:gd name="adj" fmla="val 2158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55664" y="2112264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Neto acumulado — CON inversión en redes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55664" y="2386584"/>
            <a:ext cx="4919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+US$400/mes en ads · USD acumulado</a:t>
            </a:r>
            <a:endParaRPr lang="en-US" sz="1050" dirty="0"/>
          </a:p>
        </p:txBody>
      </p:sp>
      <p:graphicFrame>
        <p:nvGraphicFramePr>
          <p:cNvPr id="11" name="Chart 1" descr=""/>
          <p:cNvGraphicFramePr/>
          <p:nvPr/>
        </p:nvGraphicFramePr>
        <p:xfrm>
          <a:off x="6345936" y="2679192"/>
          <a:ext cx="5138928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566928" y="597103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DC5F53"/>
          </a:solidFill>
          <a:ln/>
        </p:spPr>
      </p:sp>
      <p:sp>
        <p:nvSpPr>
          <p:cNvPr id="13" name="Text 9"/>
          <p:cNvSpPr/>
          <p:nvPr/>
        </p:nvSpPr>
        <p:spPr>
          <a:xfrm>
            <a:off x="786384" y="5907024"/>
            <a:ext cx="8814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Pesimista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1942186" y="597103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E6A636"/>
          </a:solidFill>
          <a:ln/>
        </p:spPr>
      </p:sp>
      <p:sp>
        <p:nvSpPr>
          <p:cNvPr id="15" name="Text 11"/>
          <p:cNvSpPr/>
          <p:nvPr/>
        </p:nvSpPr>
        <p:spPr>
          <a:xfrm>
            <a:off x="2161642" y="5907024"/>
            <a:ext cx="18544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(planificamos acá)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290365" y="597103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FB783"/>
          </a:solidFill>
          <a:ln/>
        </p:spPr>
      </p:sp>
      <p:sp>
        <p:nvSpPr>
          <p:cNvPr id="17" name="Text 13"/>
          <p:cNvSpPr/>
          <p:nvPr/>
        </p:nvSpPr>
        <p:spPr>
          <a:xfrm>
            <a:off x="4509821" y="5907024"/>
            <a:ext cx="33137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Optimista — aspiracional, ya requiere equipo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</a:t>
            </a:r>
            <a:pPr indent="0" marL="0">
              <a:buNone/>
            </a:pPr>
            <a:r>
              <a:rPr lang="en-US" sz="1250" b="1" spc="200" kern="0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27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Uruguay para validar. LATAM es la tesis. El mundo, el viento de cola.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2148840"/>
            <a:ext cx="3663696" cy="2286000"/>
          </a:xfrm>
          <a:prstGeom prst="roundRect">
            <a:avLst>
              <a:gd name="adj" fmla="val 3600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514600"/>
            <a:ext cx="3160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~120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41248" y="3410712"/>
            <a:ext cx="3115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🇺🇾 Cuentas núcleo UY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" y="3721608"/>
            <a:ext cx="3115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bancos, ~35 financieras, 34 mutualistas, estatales. +850 grandes privadas (INE).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48912" y="2148840"/>
            <a:ext cx="3663696" cy="2286000"/>
          </a:xfrm>
          <a:prstGeom prst="roundRect">
            <a:avLst>
              <a:gd name="adj" fmla="val 3600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3232" y="2514600"/>
            <a:ext cx="3160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~8.400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23232" y="3410712"/>
            <a:ext cx="3115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🌎 Cuentas núcleo LATAM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23232" y="3721608"/>
            <a:ext cx="3115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~70–80× UY por PIB. Ventaja real: trilingüe y “en criollo”.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30896" y="2148840"/>
            <a:ext cx="3663696" cy="2286000"/>
          </a:xfrm>
          <a:prstGeom prst="roundRect">
            <a:avLst>
              <a:gd name="adj" fmla="val 3600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05216" y="2514600"/>
            <a:ext cx="3160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US$12–18bn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205216" y="3410712"/>
            <a:ext cx="3115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TAM global 2030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05216" y="3721608"/>
            <a:ext cx="3115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 creciendo ~19–22%/año. El viento de cola, no la meta.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4892040"/>
            <a:ext cx="11027664" cy="1234440"/>
          </a:xfrm>
          <a:prstGeom prst="roundRect">
            <a:avLst>
              <a:gd name="adj" fmla="val 6667"/>
            </a:avLst>
          </a:prstGeom>
          <a:solidFill>
            <a:srgbClr val="22180A"/>
          </a:solidFill>
          <a:ln w="12700">
            <a:solidFill>
              <a:srgbClr val="5A462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4892040"/>
            <a:ext cx="54864" cy="1234440"/>
          </a:xfrm>
          <a:prstGeom prst="rect">
            <a:avLst/>
          </a:prstGeom>
          <a:solidFill>
            <a:srgbClr val="F2B441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5056632"/>
            <a:ext cx="10479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DÓNDE ENTRAMOS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1248" y="5349240"/>
            <a:ext cx="10479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la financiera / administradora de crédito mediana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ciclo corto, dolor claro de recupero. No por los 11 bancos (ciclo 9–15 meses y piden SOC 2/ISO). Uruguay valida; LATAM escala.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</a:t>
            </a:r>
            <a:pPr indent="0" marL="0">
              <a:buNone/>
            </a:pPr>
            <a:r>
              <a:rPr lang="en-US" sz="1250" b="1" spc="200" kern="0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27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motor de contenido que alimenta el embudo, con una sola cara real.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591056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~36 piezas/mes, identidad real (Martín Viera), sin personas falsas ni humo. El contenido no vende solo: construye autoridad y trae leads a la demo, que cierra con implementación.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697480"/>
            <a:ext cx="3468624" cy="1965960"/>
          </a:xfrm>
          <a:prstGeom prst="roundRect">
            <a:avLst>
              <a:gd name="adj" fmla="val 4186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35224"/>
            <a:ext cx="677570" cy="256032"/>
          </a:xfrm>
          <a:prstGeom prst="roundRect">
            <a:avLst>
              <a:gd name="adj" fmla="val 50000"/>
            </a:avLst>
          </a:prstGeom>
          <a:solidFill>
            <a:srgbClr val="E39A2E">
              <a:alpha val="1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935224"/>
            <a:ext cx="6775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LÍNEA 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3264408"/>
            <a:ext cx="295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Autoridad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22960" y="3685032"/>
            <a:ext cx="29565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+ X. “Gobierno de datos y cobranza en criollo.” Construye la reputación que cierra.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6448" y="2697480"/>
            <a:ext cx="3468624" cy="1965960"/>
          </a:xfrm>
          <a:prstGeom prst="roundRect">
            <a:avLst>
              <a:gd name="adj" fmla="val 4186"/>
            </a:avLst>
          </a:prstGeom>
          <a:solidFill>
            <a:srgbClr val="0E2138"/>
          </a:solidFill>
          <a:ln w="12700">
            <a:solidFill>
              <a:srgbClr val="E39A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02480" y="2935224"/>
            <a:ext cx="1208837" cy="256032"/>
          </a:xfrm>
          <a:prstGeom prst="roundRect">
            <a:avLst>
              <a:gd name="adj" fmla="val 50000"/>
            </a:avLst>
          </a:prstGeom>
          <a:solidFill>
            <a:srgbClr val="E39A2E">
              <a:alpha val="1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602480" y="2935224"/>
            <a:ext cx="120883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LÍNEA B · FOCO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02480" y="3264408"/>
            <a:ext cx="295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 B2B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602480" y="3685032"/>
            <a:ext cx="29565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Mini-demos sobre data sintética, problema→insight→CTA, one-pagers. Leads de gerentes de cobranzas/riesgo.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25968" y="2697480"/>
            <a:ext cx="3468624" cy="1965960"/>
          </a:xfrm>
          <a:prstGeom prst="roundRect">
            <a:avLst>
              <a:gd name="adj" fmla="val 4186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82000" y="2935224"/>
            <a:ext cx="677570" cy="256032"/>
          </a:xfrm>
          <a:prstGeom prst="roundRect">
            <a:avLst>
              <a:gd name="adj" fmla="val 50000"/>
            </a:avLst>
          </a:prstGeom>
          <a:solidFill>
            <a:srgbClr val="E39A2E">
              <a:alpha val="18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382000" y="2935224"/>
            <a:ext cx="6775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LÍNEA C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82000" y="3264408"/>
            <a:ext cx="295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 educativo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382000" y="3685032"/>
            <a:ext cx="29565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Shorts/Reels 60–90s, guion y voz propios. Alcance hispano, top of funnel.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937760"/>
            <a:ext cx="11027664" cy="1188720"/>
          </a:xfrm>
          <a:prstGeom prst="roundRect">
            <a:avLst>
              <a:gd name="adj" fmla="val 6923"/>
            </a:avLst>
          </a:prstGeom>
          <a:solidFill>
            <a:srgbClr val="22180A"/>
          </a:solidFill>
          <a:ln w="12700">
            <a:solidFill>
              <a:srgbClr val="5A462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4937760"/>
            <a:ext cx="54864" cy="1188720"/>
          </a:xfrm>
          <a:prstGeom prst="rect">
            <a:avLst/>
          </a:prstGeom>
          <a:solidFill>
            <a:srgbClr val="F2B441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5102352"/>
            <a:ext cx="10479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HONESTIDAD, NO PROMESA FACELESS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1248" y="5394960"/>
            <a:ext cx="10479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US$400/mes de ads (CPL LATAM US$17–36) compramos ~10–18 leads B2B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~0,5–1 cliente extra/mes, y un cliente deja US$3–8k. Se paga varias veces si el embudo convierte.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</a:t>
            </a:r>
            <a:pPr indent="0" marL="0">
              <a:buNone/>
            </a:pPr>
            <a:r>
              <a:rPr lang="en-US" sz="1250" b="1" spc="200" kern="0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ESCALA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27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venderlo solo a tener equipo — contratando contra recurrente, no contra esperanza.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2194560"/>
            <a:ext cx="11027664" cy="896112"/>
          </a:xfrm>
          <a:prstGeom prst="roundRect">
            <a:avLst>
              <a:gd name="adj" fmla="val 9184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45059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F2B441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89888" y="2194560"/>
            <a:ext cx="99303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Año 1 — Solo.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Entregás todo. Techo ~2 implementaciones/mes. Meta: 5–15 clientes, US$29–146k netos. Cero contrataciones, guardás caja.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3236976"/>
            <a:ext cx="11027664" cy="896112"/>
          </a:xfrm>
          <a:prstGeom prst="roundRect">
            <a:avLst>
              <a:gd name="adj" fmla="val 9184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349300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F2B441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3493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89888" y="3236976"/>
            <a:ext cx="99303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Gatillo de contratación.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cuando (a) el recurrente cubre un sueldo y (b) estás rechazando trabajo. Un implementador mid en UY cuesta all-in ~US$4.500/mes.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4279392"/>
            <a:ext cx="11027664" cy="896112"/>
          </a:xfrm>
          <a:prstGeom prst="roundRect">
            <a:avLst>
              <a:gd name="adj" fmla="val 9184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453542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F2B441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89888" y="4279392"/>
            <a:ext cx="99303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Año 2 — Primer contratado.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base/optimista el recurrente cruza los US$4.500/mes hacia el mes 10–12. Duplicás capacidad de entrega.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5321808"/>
            <a:ext cx="11027664" cy="896112"/>
          </a:xfrm>
          <a:prstGeom prst="roundRect">
            <a:avLst>
              <a:gd name="adj" fmla="val 9184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55778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F2B441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5577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89888" y="5321808"/>
            <a:ext cx="99303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Año 2–3 — Micro-agencia (3–4).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Vos en venta + arquitectura, 2 implementadores, 1 part-time de contenido. Solo si el recurrente sostiene la nómina.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</a:t>
            </a:r>
            <a:pPr indent="0" marL="0">
              <a:buNone/>
            </a:pPr>
            <a:r>
              <a:rPr lang="en-US" sz="1250" b="1" spc="200" kern="0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RIESGOS · ABOGADO DEL DIABLO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27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plan sin esta lámina es marketing. Esto es lo que puede hundirlo.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2194560"/>
            <a:ext cx="11027664" cy="896112"/>
          </a:xfrm>
          <a:prstGeom prst="roundRect">
            <a:avLst>
              <a:gd name="adj" fmla="val 9184"/>
            </a:avLst>
          </a:prstGeom>
          <a:solidFill>
            <a:srgbClr val="22110F"/>
          </a:solidFill>
          <a:ln w="12700">
            <a:solidFill>
              <a:srgbClr val="5A2B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514600"/>
            <a:ext cx="256032" cy="256032"/>
          </a:xfrm>
          <a:prstGeom prst="ellipse">
            <a:avLst/>
          </a:prstGeom>
          <a:solidFill>
            <a:srgbClr val="E0685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49631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11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16736" y="2194560"/>
            <a:ext cx="1000353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 factor 1.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depende de una persona. Mitigación: documentar, no prometer SLAs insostenibles, contratar apenas el recurrente lo permita.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3236976"/>
            <a:ext cx="11027664" cy="896112"/>
          </a:xfrm>
          <a:prstGeom prst="roundRect">
            <a:avLst>
              <a:gd name="adj" fmla="val 9184"/>
            </a:avLst>
          </a:prstGeom>
          <a:solidFill>
            <a:srgbClr val="22110F"/>
          </a:solidFill>
          <a:ln w="12700">
            <a:solidFill>
              <a:srgbClr val="5A2B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3557016"/>
            <a:ext cx="256032" cy="256032"/>
          </a:xfrm>
          <a:prstGeom prst="ellipse">
            <a:avLst/>
          </a:prstGeom>
          <a:solidFill>
            <a:srgbClr val="E0685C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53872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11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16736" y="3236976"/>
            <a:ext cx="1000353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Conectores sin probar en vivo.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Purview/Collibra/Tableau/MCP están contra la doc, nunca contra un tenant real. Mitigación: primer enterprise como piloto pago con expectativa de “primera integración”.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4279392"/>
            <a:ext cx="11027664" cy="896112"/>
          </a:xfrm>
          <a:prstGeom prst="roundRect">
            <a:avLst>
              <a:gd name="adj" fmla="val 9184"/>
            </a:avLst>
          </a:prstGeom>
          <a:solidFill>
            <a:srgbClr val="22110F"/>
          </a:solidFill>
          <a:ln w="12700">
            <a:solidFill>
              <a:srgbClr val="5A2B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4599432"/>
            <a:ext cx="256032" cy="256032"/>
          </a:xfrm>
          <a:prstGeom prst="ellipse">
            <a:avLst/>
          </a:prstGeom>
          <a:solidFill>
            <a:srgbClr val="E0685C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58114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11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16736" y="4279392"/>
            <a:ext cx="1000353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 UY chico.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~120 cuentas núcleo. LATAM no es opcional, es la tesis; la ventaja idiomática es la palanca.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5321808"/>
            <a:ext cx="11027664" cy="896112"/>
          </a:xfrm>
          <a:prstGeom prst="roundRect">
            <a:avLst>
              <a:gd name="adj" fmla="val 9184"/>
            </a:avLst>
          </a:prstGeom>
          <a:solidFill>
            <a:srgbClr val="22110F"/>
          </a:solidFill>
          <a:ln w="12700">
            <a:solidFill>
              <a:srgbClr val="5A2B2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5641848"/>
            <a:ext cx="256032" cy="256032"/>
          </a:xfrm>
          <a:prstGeom prst="ellipse">
            <a:avLst/>
          </a:prstGeom>
          <a:solidFill>
            <a:srgbClr val="E0685C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62356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11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16736" y="5321808"/>
            <a:ext cx="1000353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optimista es aspiracional.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clientes/mes solo a US$8k es irreal sin equipo. Planificamos con base; celebramos si es optimista.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4389120"/>
            <a:ext cx="5852160" cy="5852160"/>
          </a:xfrm>
          <a:prstGeom prst="ellipse">
            <a:avLst/>
          </a:prstGeom>
          <a:solidFill>
            <a:srgbClr val="F2B441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</a:t>
            </a:r>
            <a:pPr indent="0" marL="0">
              <a:buNone/>
            </a:pPr>
            <a:r>
              <a:rPr lang="en-US" sz="1250" b="1" spc="200" kern="0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PEDIDO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spc="-40" kern="0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capital para no morir. Es la decisión de acelerar.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1755648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negocio es cash-positivo solo, desde el mes 1. La pregunta real es si comprimimos 18 meses en 9: contratar el primer implementador antes y encender el motor de contenido/ads en vez de esperar a que el orgánico lo permita.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2926080"/>
            <a:ext cx="5358384" cy="2057400"/>
          </a:xfrm>
          <a:prstGeom prst="roundRect">
            <a:avLst>
              <a:gd name="adj" fmla="val 4000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3182112"/>
            <a:ext cx="1664208" cy="256032"/>
          </a:xfrm>
          <a:prstGeom prst="roundRect">
            <a:avLst>
              <a:gd name="adj" fmla="val 50000"/>
            </a:avLst>
          </a:prstGeom>
          <a:solidFill>
            <a:srgbClr val="37C891">
              <a:alpha val="18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3182112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7C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CAMINO A · BOOTSTRAP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3511296"/>
            <a:ext cx="4809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Solo, orgánico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41248" y="3950208"/>
            <a:ext cx="480974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Cero capital externo. Base sin redes: US$86k netos a 18m, recurrente US$2,9k/m. Más lento, 100% tuyo.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36208" y="2926080"/>
            <a:ext cx="5358384" cy="2057400"/>
          </a:xfrm>
          <a:prstGeom prst="roundRect">
            <a:avLst>
              <a:gd name="adj" fmla="val 4000"/>
            </a:avLst>
          </a:prstGeom>
          <a:solidFill>
            <a:srgbClr val="0E2138"/>
          </a:solidFill>
          <a:ln w="12700">
            <a:solidFill>
              <a:srgbClr val="E39A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10528" y="3182112"/>
            <a:ext cx="1588313" cy="256032"/>
          </a:xfrm>
          <a:prstGeom prst="roundRect">
            <a:avLst>
              <a:gd name="adj" fmla="val 50000"/>
            </a:avLst>
          </a:prstGeom>
          <a:solidFill>
            <a:srgbClr val="E39A2E">
              <a:alpha val="1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510528" y="3182112"/>
            <a:ext cx="158831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CAMINO B · ACELERAR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510528" y="3511296"/>
            <a:ext cx="4809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Ads + hire temprano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10528" y="3950208"/>
            <a:ext cx="480974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~US$30–50k comprarían ~6 meses de un implementador + ads. Base con redes apunta a US$146k a 18m y recurrente US$5,0k/m, antes.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5193792"/>
            <a:ext cx="11027664" cy="0"/>
          </a:xfrm>
          <a:prstGeom prst="line">
            <a:avLst/>
          </a:prstGeom>
          <a:noFill/>
          <a:ln w="12700">
            <a:solidFill>
              <a:srgbClr val="2440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53766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 paso concreto: </a:t>
            </a:r>
            <a:pPr indent="0" marL="0">
              <a:buNone/>
            </a:pPr>
            <a:r>
              <a:rPr lang="en-US" sz="14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piloto pago con una financiera mediana.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66928" y="5797296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Martín Viera</a:t>
            </a:r>
            <a:pPr indent="0" marL="0">
              <a:buNone/>
            </a:pPr>
            <a:r>
              <a:rPr lang="en-US" sz="13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VieraSchiavi   ·   vieraschiavi@gmail.com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1082528" y="5468112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F2B441"/>
          </a:solidFill>
          <a:ln/>
        </p:spPr>
      </p:sp>
      <p:sp>
        <p:nvSpPr>
          <p:cNvPr id="20" name="Text 18"/>
          <p:cNvSpPr/>
          <p:nvPr/>
        </p:nvSpPr>
        <p:spPr>
          <a:xfrm>
            <a:off x="11082528" y="54681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MV Data Governance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VieraSchiavi</dc:creator>
  <cp:lastModifiedBy>VieraSchiavi</cp:lastModifiedBy>
  <cp:revision>1</cp:revision>
  <dcterms:created xsi:type="dcterms:W3CDTF">2026-07-26T18:55:43Z</dcterms:created>
  <dcterms:modified xsi:type="dcterms:W3CDTF">2026-07-26T18:55:43Z</dcterms:modified>
</cp:coreProperties>
</file>