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</c:v>
                </c:pt>
              </c:strCache>
            </c:strRef>
          </c:tx>
          <c:spPr>
            <a:solidFill>
              <a:srgbClr val="DC5F53"/>
            </a:solidFill>
            <a:ln w="31750" cap="flat">
              <a:solidFill>
                <a:srgbClr val="DC5F5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C5F53"/>
              </a:solidFill>
              <a:ln w="9525" cap="flat">
                <a:solidFill>
                  <a:srgbClr val="DC5F5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</c:v>
                </c:pt>
                <c:pt idx="1">
                  <c:v>2.4</c:v>
                </c:pt>
                <c:pt idx="2">
                  <c:v>5.7</c:v>
                </c:pt>
                <c:pt idx="3">
                  <c:v>15.3</c:v>
                </c:pt>
                <c:pt idx="4">
                  <c:v>29.3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E6A636"/>
            </a:solidFill>
            <a:ln w="31750" cap="flat">
              <a:solidFill>
                <a:srgbClr val="E6A6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6A636"/>
              </a:solidFill>
              <a:ln w="9525" cap="flat">
                <a:solidFill>
                  <a:srgbClr val="E6A6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6.8</c:v>
                </c:pt>
                <c:pt idx="2">
                  <c:v>16.4</c:v>
                </c:pt>
                <c:pt idx="3">
                  <c:v>44.8</c:v>
                </c:pt>
                <c:pt idx="4">
                  <c:v>86.2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</c:v>
                </c:pt>
              </c:strCache>
            </c:strRef>
          </c:tx>
          <c:spPr>
            <a:solidFill>
              <a:srgbClr val="2FB783"/>
            </a:solidFill>
            <a:ln w="31750" cap="flat">
              <a:solidFill>
                <a:srgbClr val="2FB78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FB783"/>
              </a:solidFill>
              <a:ln w="9525" cap="flat">
                <a:solidFill>
                  <a:srgbClr val="2FB78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</c:v>
                </c:pt>
                <c:pt idx="1">
                  <c:v>17</c:v>
                </c:pt>
                <c:pt idx="2">
                  <c:v>40.2</c:v>
                </c:pt>
                <c:pt idx="3">
                  <c:v>106.1</c:v>
                </c:pt>
                <c:pt idx="4">
                  <c:v>199.8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405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93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"/>
          <c:min val="0"/>
        </c:scaling>
        <c:delete val="0"/>
        <c:axPos val="l"/>
        <c:majorGridlines>
          <c:spPr>
            <a:ln w="6350" cap="flat">
              <a:solidFill>
                <a:srgbClr val="24405C"/>
              </a:solidFill>
              <a:prstDash val="solid"/>
              <a:round/>
            </a:ln>
          </c:spPr>
        </c:majorGridlines>
        <c:numFmt formatCode="#&quot;k&quot;" sourceLinked="0"/>
        <c:majorTickMark val="out"/>
        <c:minorTickMark val="none"/>
        <c:tickLblPos val="nextTo"/>
        <c:spPr>
          <a:ln w="12700" cap="flat">
            <a:solidFill>
              <a:srgbClr val="24405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93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solidFill>
          <a:srgbClr val="0E2138"/>
        </a:solidFill>
        <a:ln>
          <a:noFill/>
        </a:ln>
        <a:effectLst/>
      </c:spPr>
    </c:plotArea>
    <c:plotVisOnly val="1"/>
    <c:dispBlanksAs val="span"/>
  </c:chart>
  <c:spPr>
    <a:solidFill>
      <a:srgbClr val="0E2138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</c:v>
                </c:pt>
              </c:strCache>
            </c:strRef>
          </c:tx>
          <c:spPr>
            <a:solidFill>
              <a:srgbClr val="DC5F53"/>
            </a:solidFill>
            <a:ln w="31750" cap="flat">
              <a:solidFill>
                <a:srgbClr val="DC5F5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C5F53"/>
              </a:solidFill>
              <a:ln w="9525" cap="flat">
                <a:solidFill>
                  <a:srgbClr val="DC5F5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</c:v>
                </c:pt>
                <c:pt idx="1">
                  <c:v>3</c:v>
                </c:pt>
                <c:pt idx="2">
                  <c:v>7.4</c:v>
                </c:pt>
                <c:pt idx="3">
                  <c:v>20.5</c:v>
                </c:pt>
                <c:pt idx="4">
                  <c:v>39.9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E6A636"/>
            </a:solidFill>
            <a:ln w="31750" cap="flat">
              <a:solidFill>
                <a:srgbClr val="E6A6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6A636"/>
              </a:solidFill>
              <a:ln w="9525" cap="flat">
                <a:solidFill>
                  <a:srgbClr val="E6A6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3.6</c:v>
                </c:pt>
                <c:pt idx="1">
                  <c:v>12.3</c:v>
                </c:pt>
                <c:pt idx="2">
                  <c:v>29.2</c:v>
                </c:pt>
                <c:pt idx="3">
                  <c:v>77.5</c:v>
                </c:pt>
                <c:pt idx="4">
                  <c:v>146.3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</c:v>
                </c:pt>
              </c:strCache>
            </c:strRef>
          </c:tx>
          <c:spPr>
            <a:solidFill>
              <a:srgbClr val="2FB783"/>
            </a:solidFill>
            <a:ln w="31750" cap="flat">
              <a:solidFill>
                <a:srgbClr val="2FB78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FB783"/>
              </a:solidFill>
              <a:ln w="9525" cap="flat">
                <a:solidFill>
                  <a:srgbClr val="2FB78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9.1</c:v>
                </c:pt>
                <c:pt idx="1">
                  <c:v>30.8</c:v>
                </c:pt>
                <c:pt idx="2">
                  <c:v>72.8</c:v>
                </c:pt>
                <c:pt idx="3">
                  <c:v>192.1</c:v>
                </c:pt>
                <c:pt idx="4">
                  <c:v>361.1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405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93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"/>
          <c:min val="0"/>
        </c:scaling>
        <c:delete val="0"/>
        <c:axPos val="l"/>
        <c:majorGridlines>
          <c:spPr>
            <a:ln w="6350" cap="flat">
              <a:solidFill>
                <a:srgbClr val="24405C"/>
              </a:solidFill>
              <a:prstDash val="solid"/>
              <a:round/>
            </a:ln>
          </c:spPr>
        </c:majorGridlines>
        <c:numFmt formatCode="#&quot;k&quot;" sourceLinked="0"/>
        <c:majorTickMark val="out"/>
        <c:minorTickMark val="none"/>
        <c:tickLblPos val="nextTo"/>
        <c:spPr>
          <a:ln w="12700" cap="flat">
            <a:solidFill>
              <a:srgbClr val="24405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93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solidFill>
          <a:srgbClr val="0E2138"/>
        </a:solidFill>
        <a:ln>
          <a:noFill/>
        </a:ln>
        <a:effectLst/>
      </c:spPr>
    </c:plotArea>
    <c:plotVisOnly val="1"/>
    <c:dispBlanksAs val="span"/>
  </c:chart>
  <c:spPr>
    <a:solidFill>
      <a:srgbClr val="0E21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governança de dados está quebrada para 95% das empresas da região.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Ninguém é dono de “governança + cobrança, no idioma local, rodando on-premise, para a financeira/PME média da LATAM”.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níveis. Cada um com um trabalho distinto no funil.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Services-led: o projeto paga o hoje, a assinatura constrói o amanhã.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Líquido US$86–146k em 18 meses. Você sozinho. Sem queimar capital.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futuros, mesma escala, sem inflar.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Uruguai para validar. LATAM é a tese. O mundo, o vento a favor.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motor de conteúdo que alimenta o funil, com um único rosto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vender sozinho a ter equipe — contratando contra recorrente, não contra esperança.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plano sem esta lâmina é marketing. Isto é o que pode afundá-lo.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capital para não morrer. É a decisão de acelerar.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920240"/>
            <a:ext cx="5669280" cy="5669280"/>
          </a:xfrm>
          <a:prstGeom prst="ellipse">
            <a:avLst/>
          </a:prstGeom>
          <a:solidFill>
            <a:srgbClr val="F2B44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097280"/>
            <a:ext cx="3291840" cy="3291840"/>
          </a:xfrm>
          <a:prstGeom prst="ellipse">
            <a:avLst/>
          </a:prstGeom>
          <a:solidFill>
            <a:srgbClr val="F2B441">
              <a:alpha val="3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6692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2B44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57607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 Data Governance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886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VieraSchiavi · Uruguai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1874520"/>
            <a:ext cx="10607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9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de dados + cobrança,</a:t>
            </a:r>
            <a:endParaRPr lang="en-US" sz="3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9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 LATAM que ninguém atende.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566928" y="3913632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Séria, no idioma do cliente, e rodando na infra do cliente. Os grandes vendem caro e em inglês; nós entramos pela financeira e pela PME média — onde a dor de recuperação é concreta e o ciclo é de semanas, não de trimestres.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5532120"/>
            <a:ext cx="11027664" cy="0"/>
          </a:xfrm>
          <a:prstGeom prst="line">
            <a:avLst/>
          </a:prstGeom>
          <a:noFill/>
          <a:ln w="12700">
            <a:solidFill>
              <a:srgbClr val="2440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580644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Estágio: </a:t>
            </a:r>
            <a:pPr indent="0" marL="0">
              <a:buNone/>
            </a:pPr>
            <a:r>
              <a:rPr lang="en-US" sz="12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pré-receita, pronto p/ piloto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23360" y="5806440"/>
            <a:ext cx="27477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Modelo: </a:t>
            </a:r>
            <a:pPr indent="0" marL="0">
              <a:buNone/>
            </a:pPr>
            <a:r>
              <a:rPr lang="en-US" sz="12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services-led + recorrente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91172" y="580644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</a:t>
            </a:r>
            <a:pPr indent="0" marL="0">
              <a:buNone/>
            </a:pPr>
            <a:r>
              <a:rPr lang="en-US" sz="12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governança de dados está quebrada para 95% das empresas da região.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59105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ferramentas que existem resolvem o problema de um banco global, não o de uma financeira uruguaia. E quem governa mal o seu dado, cobra mal: qualidade do dado → recuperação.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3468624" cy="3017520"/>
          </a:xfrm>
          <a:prstGeom prst="roundRect">
            <a:avLst>
              <a:gd name="adj" fmla="val 272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880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0685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410712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123944"/>
            <a:ext cx="295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Collibra, Alation, Informatica: orçamentos enterprise, licenças em dólar que uma PME não assina.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6448" y="2606040"/>
            <a:ext cx="3468624" cy="3017520"/>
          </a:xfrm>
          <a:prstGeom prst="roundRect">
            <a:avLst>
              <a:gd name="adj" fmla="val 272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2480" y="2880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0685C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6024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02480" y="3410712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inglês e na nuvem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02480" y="4123944"/>
            <a:ext cx="295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e suporte em inglês, e dados sensíveis que precisam sair para um tenant externo — freio imediato de segurança.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5968" y="2606040"/>
            <a:ext cx="3468624" cy="3017520"/>
          </a:xfrm>
          <a:prstGeom prst="roundRect">
            <a:avLst>
              <a:gd name="adj" fmla="val 272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2000" y="2880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0685C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3410712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“faça você mesmo”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82000" y="4123944"/>
            <a:ext cx="295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open-source (OpenMetadata) é grátis, mas você tem que montar, manter e sem suporte em português.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OPORTUNIDADE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é dono de “governança + cobrança, no idioma local, rodando on-premise, para a financeira/PME média da LATAM”.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frentes competem ao redor da lacuna, nenhuma dentro. Esse seam desatendido é a tese.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97480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88920"/>
                <a:gridCol w="2880360"/>
                <a:gridCol w="3072384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Quem manda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Ponto fraco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Nosso ângulo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Governança de dados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Collibra, Purview, Informatica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caros, inglês, nuvem, enterprise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39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barato, local, trilíngue, PME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Governança 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OpenMetadata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“monte você mesmo”, sem suporte PT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39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produto pronto + implementação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Cobrança LATAM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Colektia, Moonflow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cobram, não governam o dado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39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governamos o dado da recuperação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bancário UY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Bantotal (~70% da banca)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 o core, não joga em PME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39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brigamos: ao lado, mid-market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níveis. Cada um com um trabalho distinto no funil.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468624" cy="2743200"/>
          </a:xfrm>
          <a:prstGeom prst="roundRect">
            <a:avLst>
              <a:gd name="adj" fmla="val 30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12264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37C891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122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GRÁTIS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44144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local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862072"/>
            <a:ext cx="29565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sintética, sem internet. O cavalo de Troia: o prospect testa sem pedir permissão à segurança. Um review real disse que “destravou a aprovação de segurança para um piloto sem atrito”.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6448" y="1874520"/>
            <a:ext cx="3468624" cy="2743200"/>
          </a:xfrm>
          <a:prstGeom prst="roundRect">
            <a:avLst>
              <a:gd name="adj" fmla="val 3000"/>
            </a:avLst>
          </a:prstGeom>
          <a:solidFill>
            <a:srgbClr val="0E2138"/>
          </a:solidFill>
          <a:ln w="12700">
            <a:solidFill>
              <a:srgbClr val="E39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2480" y="2112264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02480" y="21122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02480" y="244144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Versões pagas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02480" y="2862072"/>
            <a:ext cx="29565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US$149 Licença PC (única) · US$390/mês Professional · créditos IA US$9/39/149. Já cobráveis via MercadoPago em USD.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5968" y="1874520"/>
            <a:ext cx="3468624" cy="2743200"/>
          </a:xfrm>
          <a:prstGeom prst="roundRect">
            <a:avLst>
              <a:gd name="adj" fmla="val 30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2000" y="2112264"/>
            <a:ext cx="677570" cy="256032"/>
          </a:xfrm>
          <a:prstGeom prst="roundRect">
            <a:avLst>
              <a:gd name="adj" fmla="val 50000"/>
            </a:avLst>
          </a:prstGeom>
          <a:solidFill>
            <a:srgbClr val="E0685C">
              <a:alpha val="1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0" y="2112264"/>
            <a:ext cx="6775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82000" y="244144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owner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82000" y="2862072"/>
            <a:ext cx="29565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completo + servidor próprio. Não é um SKU: é o veículo para entregar implementações sobre o BD/ERP de cada cliente. Aí está a margem.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937760"/>
            <a:ext cx="11027664" cy="1188720"/>
          </a:xfrm>
          <a:prstGeom prst="roundRect">
            <a:avLst>
              <a:gd name="adj" fmla="val 6923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937760"/>
            <a:ext cx="54864" cy="118872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510235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DO PRODUTO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5394960"/>
            <a:ext cx="10479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 testes · autocheck 46/46 · trilíngue · roda 100% local.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motor (catálogo, qualidade, linhagem, contratos de dados) está sólido para pilotos hoje. Os pagamentos online já estão no ar.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NEGÓCIO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Services-led: o projeto paga o hoje, a assinatura constrói o amanhã.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59105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“SaaS que se vende sozinho”. Entramos como o especialista que implementa, cobramos o projeto adiantado, e deixamos o software rodando como recorrente.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2564892" cy="1874520"/>
          </a:xfrm>
          <a:prstGeom prst="roundRect">
            <a:avLst>
              <a:gd name="adj" fmla="val 439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807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3136392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local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86384" y="3520440"/>
            <a:ext cx="2125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sem atrito de segurança. Gera o lead.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13532" y="2606040"/>
            <a:ext cx="2926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7852" y="2606040"/>
            <a:ext cx="2564892" cy="1874520"/>
          </a:xfrm>
          <a:prstGeom prst="roundRect">
            <a:avLst>
              <a:gd name="adj" fmla="val 4390"/>
            </a:avLst>
          </a:prstGeom>
          <a:solidFill>
            <a:srgbClr val="0E2138"/>
          </a:solidFill>
          <a:ln w="12700">
            <a:solidFill>
              <a:srgbClr val="E39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7308" y="2807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7308" y="3136392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07308" y="3520440"/>
            <a:ext cx="2125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 sobre o BD/ERP. US$3–8k adiantado.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34456" y="2606040"/>
            <a:ext cx="2926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08776" y="2606040"/>
            <a:ext cx="2564892" cy="1874520"/>
          </a:xfrm>
          <a:prstGeom prst="roundRect">
            <a:avLst>
              <a:gd name="adj" fmla="val 439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807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28232" y="3136392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28232" y="3520440"/>
            <a:ext cx="2125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 rodando o Professional. US$390/mês recorrente.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55380" y="2606040"/>
            <a:ext cx="2926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29700" y="2606040"/>
            <a:ext cx="2564892" cy="1874520"/>
          </a:xfrm>
          <a:prstGeom prst="roundRect">
            <a:avLst>
              <a:gd name="adj" fmla="val 439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49156" y="2807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49156" y="3136392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249156" y="3520440"/>
            <a:ext cx="2125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módulos, mais áreas, indicação para a próxima financeira.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937760"/>
            <a:ext cx="11027664" cy="1188720"/>
          </a:xfrm>
          <a:prstGeom prst="roundRect">
            <a:avLst>
              <a:gd name="adj" fmla="val 6923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4937760"/>
            <a:ext cx="54864" cy="118872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10235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IMPORTA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" y="5394960"/>
            <a:ext cx="10479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Cobrar adiantado torna o negócio cash-positivo desde o mês 1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sem vale da morte. O attach de assinatura é o que o transforma de “consultor caro com teto de horas” em um ativo que cresce enquanto você dorme.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NÚMEROS · CASO BASE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Líquido US$86–146k em 18 meses. Você sozinho. Sem queimar capital.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US$86–146k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Líquido acumulado · 18m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base, sem / com investimento em mídia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48912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3232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23232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Cash-positivo desde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3232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3 cenários · projetos cobrados adiantado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30896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5216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US$2,9–5,0k/m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05216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Recorrente vivo @18m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05216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assinaturas que escalam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892040"/>
            <a:ext cx="11027664" cy="1234440"/>
          </a:xfrm>
          <a:prstGeom prst="roundRect">
            <a:avLst>
              <a:gd name="adj" fmla="val 6667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4892040"/>
            <a:ext cx="54864" cy="123444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505663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TRADUZIDO EM RENDA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5349240"/>
            <a:ext cx="10479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sem mídia ≈ US$4.800/mês em média a 18m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mais do dobro do salário médio de TI uruguaio (US$2.300). O risco não é o caixa: é fechar os deals.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futuros, mesma escala, sem inflar.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358384" cy="3813048"/>
          </a:xfrm>
          <a:prstGeom prst="roundRect">
            <a:avLst>
              <a:gd name="adj" fmla="val 2158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11226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Líquido acumulado — SEM investimento em mídia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386584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orgânico / indicações · USD acumulado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76656" y="2679192"/>
          <a:ext cx="5138928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236208" y="1965960"/>
            <a:ext cx="5358384" cy="3813048"/>
          </a:xfrm>
          <a:prstGeom prst="roundRect">
            <a:avLst>
              <a:gd name="adj" fmla="val 2158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55664" y="211226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Líquido acumulado — COM investimento em mídia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55664" y="2386584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+US$400/mês em mídia · USD acumulado</a:t>
            </a:r>
            <a:endParaRPr lang="en-US" sz="105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345936" y="2679192"/>
          <a:ext cx="5138928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566928" y="59710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C5F53"/>
          </a:solidFill>
          <a:ln/>
        </p:spPr>
      </p:sp>
      <p:sp>
        <p:nvSpPr>
          <p:cNvPr id="13" name="Text 9"/>
          <p:cNvSpPr/>
          <p:nvPr/>
        </p:nvSpPr>
        <p:spPr>
          <a:xfrm>
            <a:off x="786384" y="5907024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Pessimista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011680" y="59710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6A636"/>
          </a:solidFill>
          <a:ln/>
        </p:spPr>
      </p:sp>
      <p:sp>
        <p:nvSpPr>
          <p:cNvPr id="15" name="Text 11"/>
          <p:cNvSpPr/>
          <p:nvPr/>
        </p:nvSpPr>
        <p:spPr>
          <a:xfrm>
            <a:off x="2231136" y="5907024"/>
            <a:ext cx="1784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(planejamos aqui)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90365" y="59710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FB783"/>
          </a:solidFill>
          <a:ln/>
        </p:spPr>
      </p:sp>
      <p:sp>
        <p:nvSpPr>
          <p:cNvPr id="17" name="Text 13"/>
          <p:cNvSpPr/>
          <p:nvPr/>
        </p:nvSpPr>
        <p:spPr>
          <a:xfrm>
            <a:off x="4509821" y="5907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Otimista — aspiracional, já exige equipe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Uruguai para validar. LATAM é a tese. O mundo, o vento a favor.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🇺🇾 Contas núcleo UY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bancos, ~35 financeiras, 34 mutualistas, estatais. +850 grandes empresas privadas (INE).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48912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3232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~8.400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23232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 Contas núcleo LATAM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3232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~70–80× UY por PIB. Vantagem real: trilíngue e local.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30896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5216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US$12–18bn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05216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TAM global 2030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05216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de dados crescendo ~19–22%/ano. O vento a favor, não a meta.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892040"/>
            <a:ext cx="11027664" cy="1234440"/>
          </a:xfrm>
          <a:prstGeom prst="roundRect">
            <a:avLst>
              <a:gd name="adj" fmla="val 6667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4892040"/>
            <a:ext cx="54864" cy="123444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505663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ONDE ENTRAMOS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5349240"/>
            <a:ext cx="10479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 financeira / administradora de crédito média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ciclo curto, dor clara de recuperação. Não pelos 11 bancos (ciclo 9–15 meses e pedem SOC 2/ISO). Uruguai valida; LATAM escala.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motor de conteúdo que alimenta o funil, com um único rosto real.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59105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~36 peças/mês, identidade real (Martín Viera), sem personas falsas nem hype. O conteúdo não vende sozinho: constrói autoridade e traz leads para a demo, que fecha com implementação.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697480"/>
            <a:ext cx="3468624" cy="1965960"/>
          </a:xfrm>
          <a:prstGeom prst="roundRect">
            <a:avLst>
              <a:gd name="adj" fmla="val 4186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35224"/>
            <a:ext cx="677570" cy="256032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35224"/>
            <a:ext cx="6775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26440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Autoridade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685032"/>
            <a:ext cx="29565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+ X. “Governança de dados e cobrança em bom português.” Constrói a reputação que fecha.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6448" y="2697480"/>
            <a:ext cx="3468624" cy="1965960"/>
          </a:xfrm>
          <a:prstGeom prst="roundRect">
            <a:avLst>
              <a:gd name="adj" fmla="val 4186"/>
            </a:avLst>
          </a:prstGeom>
          <a:solidFill>
            <a:srgbClr val="0E2138"/>
          </a:solidFill>
          <a:ln w="12700">
            <a:solidFill>
              <a:srgbClr val="E39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2480" y="2935224"/>
            <a:ext cx="1208837" cy="256032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602480" y="2935224"/>
            <a:ext cx="12088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B · FOCO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02480" y="326440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B2B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02480" y="3685032"/>
            <a:ext cx="29565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Mini-demos sobre dados sintéticos, problema→insight→CTA, one-pagers. Leads de gerentes de cobrança/risco.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5968" y="2697480"/>
            <a:ext cx="3468624" cy="1965960"/>
          </a:xfrm>
          <a:prstGeom prst="roundRect">
            <a:avLst>
              <a:gd name="adj" fmla="val 4186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2000" y="2935224"/>
            <a:ext cx="677570" cy="256032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2935224"/>
            <a:ext cx="6775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82000" y="326440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educativo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82000" y="3685032"/>
            <a:ext cx="29565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Shorts/Reels 60–90s, roteiro e voz próprios. Alcance lusófono/hispano, topo de funil.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937760"/>
            <a:ext cx="11027664" cy="1188720"/>
          </a:xfrm>
          <a:prstGeom prst="roundRect">
            <a:avLst>
              <a:gd name="adj" fmla="val 6923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4937760"/>
            <a:ext cx="54864" cy="118872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10235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HONESTIDADE, NÃO PROMESSA FACELESS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5394960"/>
            <a:ext cx="10479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US$400/mês em mídia (CPL LATAM US$17–36) compramos ~10–18 leads B2B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~0,5–1 cliente extra/mês, e um cliente deixa US$3–8k. Se paga várias vezes se o funil converte.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ESCALA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vender sozinho a ter equipe — contratando contra recorrente, não contra esperança.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45059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2B44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89888" y="2194560"/>
            <a:ext cx="9930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1 — Sozinho.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entrega tudo. Teto ~2 implementações/mês. Meta: 5–15 clientes, US$29–146k líquidos. Zero contratações, guarda caixa.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236976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349300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2B441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89888" y="3236976"/>
            <a:ext cx="9930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 de contratação.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quando (a) o recorrente cobre um salário e (b) você está recusando trabalho. Um implementador mid no UY custa all-in ~US$4.500/mês.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279392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45354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2B441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89888" y="4279392"/>
            <a:ext cx="9930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2 — Primeira contratação.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base/otimista o recorrente cruza os US$4.500/mês por volta do mês 10–12. Você dobra a capacidade de entrega.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5321808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55778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2B441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89888" y="5321808"/>
            <a:ext cx="9930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2–3 — Micro-agência (3–4).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em vendas + arquitetura, 2 implementadores, 1 part-time de conteúdo. Só se o recorrente sustenta a folha.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· ADVOGADO DO DIABO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plano sem esta lâmina é marketing. Isto é o que pode afundá-lo.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22110F"/>
          </a:solidFill>
          <a:ln w="12700">
            <a:solidFill>
              <a:srgbClr val="5A2B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514600"/>
            <a:ext cx="256032" cy="256032"/>
          </a:xfrm>
          <a:prstGeom prst="ellipse">
            <a:avLst/>
          </a:prstGeom>
          <a:solidFill>
            <a:srgbClr val="E068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9631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16736" y="2194560"/>
            <a:ext cx="10003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factor 1.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depende de uma pessoa. Mitigação: documentar, não prometer SLAs insustentáveis, contratar assim que o recorrente permitir.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236976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22110F"/>
          </a:solidFill>
          <a:ln w="12700">
            <a:solidFill>
              <a:srgbClr val="5A2B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557016"/>
            <a:ext cx="256032" cy="256032"/>
          </a:xfrm>
          <a:prstGeom prst="ellipse">
            <a:avLst/>
          </a:prstGeom>
          <a:solidFill>
            <a:srgbClr val="E0685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3872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16736" y="3236976"/>
            <a:ext cx="10003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Conectores sem teste ao vivo.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Purview/Collibra/Tableau/MCP estão contra a doc, nunca contra um tenant real. Mitigação: primeiro enterprise como piloto pago com expectativa de “primeira integração”.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279392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22110F"/>
          </a:solidFill>
          <a:ln w="12700">
            <a:solidFill>
              <a:srgbClr val="5A2B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599432"/>
            <a:ext cx="256032" cy="256032"/>
          </a:xfrm>
          <a:prstGeom prst="ellipse">
            <a:avLst/>
          </a:prstGeom>
          <a:solidFill>
            <a:srgbClr val="E0685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8114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16736" y="4279392"/>
            <a:ext cx="10003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UY pequeno.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 contas núcleo. LATAM não é opcional, é a tese; a vantagem de idioma é a alavanca.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5321808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22110F"/>
          </a:solidFill>
          <a:ln w="12700">
            <a:solidFill>
              <a:srgbClr val="5A2B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641848"/>
            <a:ext cx="256032" cy="256032"/>
          </a:xfrm>
          <a:prstGeom prst="ellipse">
            <a:avLst/>
          </a:prstGeom>
          <a:solidFill>
            <a:srgbClr val="E068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6235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16736" y="5321808"/>
            <a:ext cx="10003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otimista é aspiracional.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clientes/mês sozinho a US$8k é irreal sem equipe. Planejamos com base; comemoramos se for otimista.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4389120"/>
            <a:ext cx="5852160" cy="5852160"/>
          </a:xfrm>
          <a:prstGeom prst="ellipse">
            <a:avLst/>
          </a:prstGeom>
          <a:solidFill>
            <a:srgbClr val="F2B441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PEDIDO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spc="-4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capital para não morrer. É a decisão de acelerar.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75564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negócio é cash-positivo sozinho, desde o mês 1. A pergunta real é se comprimimos 18 meses em 9: contratar o primeiro implementador antes e ligar o motor de conteúdo/mídia em vez de esperar o orgânico permitir.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926080"/>
            <a:ext cx="5358384" cy="2057400"/>
          </a:xfrm>
          <a:prstGeom prst="roundRect">
            <a:avLst>
              <a:gd name="adj" fmla="val 40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3182112"/>
            <a:ext cx="1740103" cy="256032"/>
          </a:xfrm>
          <a:prstGeom prst="roundRect">
            <a:avLst>
              <a:gd name="adj" fmla="val 50000"/>
            </a:avLst>
          </a:prstGeom>
          <a:solidFill>
            <a:srgbClr val="37C891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3182112"/>
            <a:ext cx="17401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CAMINHO A · BOOTSTRAP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3511296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Sozinho, orgânico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3950208"/>
            <a:ext cx="48097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capital externo. Base sem mídia: US$86k líquidos a 18m, recorrente US$2,9k/m. Mais lento, 100% seu.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6208" y="2926080"/>
            <a:ext cx="5358384" cy="2057400"/>
          </a:xfrm>
          <a:prstGeom prst="roundRect">
            <a:avLst>
              <a:gd name="adj" fmla="val 4000"/>
            </a:avLst>
          </a:prstGeom>
          <a:solidFill>
            <a:srgbClr val="0E2138"/>
          </a:solidFill>
          <a:ln w="12700">
            <a:solidFill>
              <a:srgbClr val="E39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0528" y="3182112"/>
            <a:ext cx="1664208" cy="256032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31821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CAMINHO B · ACELERAR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10528" y="3511296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 + hire cedo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0528" y="3950208"/>
            <a:ext cx="48097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~US$30–50k comprariam ~6 meses de um implementador + mídia. Base com mídia mira US$146k a 18m e recorrente US$5,0k/m, antes.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193792"/>
            <a:ext cx="11027664" cy="0"/>
          </a:xfrm>
          <a:prstGeom prst="line">
            <a:avLst/>
          </a:prstGeom>
          <a:noFill/>
          <a:ln w="12700">
            <a:solidFill>
              <a:srgbClr val="2440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5376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 concreto: </a:t>
            </a:r>
            <a:pPr indent="0" marL="0"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piloto pago com uma financeira média.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" y="5797296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Martín Viera</a:t>
            </a:r>
            <a:pPr indent="0" marL="0">
              <a:buNone/>
            </a:pPr>
            <a:r>
              <a:rPr lang="en-US" sz="13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VieraSchiavi   ·   vieraschiavi@gmail.com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082528" y="546811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2B441"/>
          </a:solidFill>
          <a:ln/>
        </p:spPr>
      </p:sp>
      <p:sp>
        <p:nvSpPr>
          <p:cNvPr id="20" name="Text 18"/>
          <p:cNvSpPr/>
          <p:nvPr/>
        </p:nvSpPr>
        <p:spPr>
          <a:xfrm>
            <a:off x="11082528" y="5468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MV Data Governance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VieraSchiavi</dc:creator>
  <cp:lastModifiedBy>VieraSchiavi</cp:lastModifiedBy>
  <cp:revision>1</cp:revision>
  <dcterms:created xsi:type="dcterms:W3CDTF">2026-07-26T18:55:43Z</dcterms:created>
  <dcterms:modified xsi:type="dcterms:W3CDTF">2026-07-26T18:55:43Z</dcterms:modified>
</cp:coreProperties>
</file>