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2B4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3108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 Data Governance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585216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de dados + implementação de cobrança · ES/PT/EN · roda local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891272" y="3108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Estágio: </a:t>
            </a:r>
            <a:pPr algn="r" indent="0" marL="0">
              <a:buNone/>
            </a:pPr>
            <a:r>
              <a:rPr lang="en-US" sz="9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pré-receita, pronto p/ piloto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891272" y="4983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Modelo: </a:t>
            </a:r>
            <a:pPr algn="r" indent="0" marL="0">
              <a:buNone/>
            </a:pPr>
            <a:r>
              <a:rPr lang="en-US" sz="9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services-led + software recorrente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91272" y="6858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Mercado: </a:t>
            </a:r>
            <a:pPr algn="r" indent="0" marL="0">
              <a:buNone/>
            </a:pPr>
            <a:r>
              <a:rPr lang="en-US" sz="9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Uruguai → LATAM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891272" y="8732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 2026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11274552" cy="0"/>
          </a:xfrm>
          <a:prstGeom prst="line">
            <a:avLst/>
          </a:prstGeom>
          <a:noFill/>
          <a:ln w="19050">
            <a:solidFill>
              <a:srgbClr val="F2B4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70432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de dados séria hoje é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cara, em inglês e na nuvem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Nós a levamos à financeira e à PME da LATAM: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barata, no idioma local e rodando na própria infra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 governamos o dado que alimenta a cobrança.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1938528"/>
            <a:ext cx="2804922" cy="896112"/>
          </a:xfrm>
          <a:prstGeom prst="roundRect">
            <a:avLst>
              <a:gd name="adj" fmla="val 6122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048256"/>
            <a:ext cx="2512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LÍQUIDO 18M · CASO BASE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3504" y="2212848"/>
            <a:ext cx="2512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US$86–146k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3504" y="2560320"/>
            <a:ext cx="2512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/ com investimento em mídia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80410" y="1938528"/>
            <a:ext cx="2804922" cy="896112"/>
          </a:xfrm>
          <a:prstGeom prst="roundRect">
            <a:avLst>
              <a:gd name="adj" fmla="val 6122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6714" y="2048256"/>
            <a:ext cx="2512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DE CAPITAL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26714" y="2212848"/>
            <a:ext cx="2512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426714" y="2560320"/>
            <a:ext cx="2512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cash-positivo desde o mês 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03620" y="1938528"/>
            <a:ext cx="2804922" cy="896112"/>
          </a:xfrm>
          <a:prstGeom prst="roundRect">
            <a:avLst>
              <a:gd name="adj" fmla="val 6122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9924" y="2048256"/>
            <a:ext cx="2512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RECORRENTE @18M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49924" y="2212848"/>
            <a:ext cx="2512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US$2,9–5,0k/m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49924" y="2560320"/>
            <a:ext cx="2512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assinaturas vivas, base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926830" y="1938528"/>
            <a:ext cx="2804922" cy="896112"/>
          </a:xfrm>
          <a:prstGeom prst="roundRect">
            <a:avLst>
              <a:gd name="adj" fmla="val 6122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73134" y="2048256"/>
            <a:ext cx="2512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073134" y="2212848"/>
            <a:ext cx="25123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 p/ piloto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073134" y="2560320"/>
            <a:ext cx="2512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 testes · autocheck 46/46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2999232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SE VENDE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" y="3328416"/>
            <a:ext cx="82296" cy="82296"/>
          </a:xfrm>
          <a:prstGeom prst="roundRect">
            <a:avLst>
              <a:gd name="adj" fmla="val 22222"/>
            </a:avLst>
          </a:prstGeom>
          <a:solidFill>
            <a:srgbClr val="E39A2E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3255264"/>
            <a:ext cx="5513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local (grátis)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100% sintética, sem internet. O cavalo de Troia: o prospect testa sem pedir permissão à segurança.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" y="3730752"/>
            <a:ext cx="82296" cy="82296"/>
          </a:xfrm>
          <a:prstGeom prst="roundRect">
            <a:avLst>
              <a:gd name="adj" fmla="val 22222"/>
            </a:avLst>
          </a:prstGeom>
          <a:solidFill>
            <a:srgbClr val="E39A2E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3657600"/>
            <a:ext cx="5513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Versões pagas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Licença PC US$149 (única) · Professional US$390/mês · créditos IA US$9/39/149. Já cobráveis via MercadoPago em USD.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" y="4133088"/>
            <a:ext cx="82296" cy="82296"/>
          </a:xfrm>
          <a:prstGeom prst="roundRect">
            <a:avLst>
              <a:gd name="adj" fmla="val 22222"/>
            </a:avLst>
          </a:prstGeom>
          <a:solidFill>
            <a:srgbClr val="E39A2E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4059936"/>
            <a:ext cx="5513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 sob medida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cobrança + governança sobre o BD/ERP do cliente. Aí está a margem e a porta para a assinatura.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590288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GANHAMOS (O SEAM)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5715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é dono de 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“governança de dados + cobrança, para a financeira/PME média da LATAM, no idioma local, rodando on-premise”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Os enterprise (Collibra, Purview, Informatica) são caros e em inglês; os de cobrança (Colektia, Moonflow) não governam o dado; o open-source é “faça você mesmo”. Entramos pela 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financeira/administradora de crédito média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—ciclo curto, dor clara de recuperação— não pelos 11 bancos (ciclo 9–15 meses).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37960" y="2999232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RENTABILIDADE LÍQUIDA — CASO BASE (USD)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3273552"/>
          <a:ext cx="5193792" cy="914400"/>
        </p:xfrm>
        <a:graphic>
          <a:graphicData uri="http://schemas.openxmlformats.org/drawingml/2006/table">
            <a:tbl>
              <a:tblPr/>
              <a:tblGrid>
                <a:gridCol w="1558138"/>
                <a:gridCol w="856976"/>
                <a:gridCol w="908914"/>
                <a:gridCol w="960852"/>
                <a:gridCol w="908914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Recorr.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· sem mídia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16.386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44.770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7C8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86.241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2.875/m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· com mídia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29.171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77.454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7C8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146.294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4.998/m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E1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Pessimista · sem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5.691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15.336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7C8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29.288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1.100/m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Otimista · com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72.804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192.089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7C8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361.144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10.235/m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6537960" y="4700016"/>
            <a:ext cx="5193792" cy="786384"/>
          </a:xfrm>
          <a:prstGeom prst="roundRect">
            <a:avLst>
              <a:gd name="adj" fmla="val 6977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537960" y="4700016"/>
            <a:ext cx="45720" cy="786384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41" name="Text 38"/>
          <p:cNvSpPr/>
          <p:nvPr/>
        </p:nvSpPr>
        <p:spPr>
          <a:xfrm>
            <a:off x="6720840" y="4791456"/>
            <a:ext cx="4873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DADO QUE MUDA TUDO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6720840" y="4974336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Cash-positivo desde o mês 1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nos três cenários: os projetos são cobrados adiantado, então não há “vale da morte” nem necessidade de capital. O risco não é ficar sem caixa — é não fechar os deals.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57200" y="5532120"/>
            <a:ext cx="1831848" cy="566928"/>
          </a:xfrm>
          <a:prstGeom prst="roundRect">
            <a:avLst>
              <a:gd name="adj" fmla="val 967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66928" y="5605272"/>
            <a:ext cx="1612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🇺🇾 Uruguai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566928" y="5769864"/>
            <a:ext cx="1612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566928" y="5971032"/>
            <a:ext cx="1612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contas núcleo · validar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2398776" y="5532120"/>
            <a:ext cx="1831848" cy="566928"/>
          </a:xfrm>
          <a:prstGeom prst="roundRect">
            <a:avLst>
              <a:gd name="adj" fmla="val 967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508504" y="5605272"/>
            <a:ext cx="1612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🌎 LATAM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2508504" y="5769864"/>
            <a:ext cx="1612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~8.400</a:t>
            </a:r>
            <a:endParaRPr lang="en-US" sz="1250" dirty="0"/>
          </a:p>
        </p:txBody>
      </p:sp>
      <p:sp>
        <p:nvSpPr>
          <p:cNvPr id="50" name="Text 47"/>
          <p:cNvSpPr/>
          <p:nvPr/>
        </p:nvSpPr>
        <p:spPr>
          <a:xfrm>
            <a:off x="2508504" y="5971032"/>
            <a:ext cx="1612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contas núcleo · escalar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4340352" y="5532120"/>
            <a:ext cx="1831848" cy="566928"/>
          </a:xfrm>
          <a:prstGeom prst="roundRect">
            <a:avLst>
              <a:gd name="adj" fmla="val 967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450080" y="5605272"/>
            <a:ext cx="1612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TAM global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4450080" y="5769864"/>
            <a:ext cx="1612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US$12–18bn</a:t>
            </a:r>
            <a:endParaRPr lang="en-US" sz="1250" dirty="0"/>
          </a:p>
        </p:txBody>
      </p:sp>
      <p:sp>
        <p:nvSpPr>
          <p:cNvPr id="54" name="Text 51"/>
          <p:cNvSpPr/>
          <p:nvPr/>
        </p:nvSpPr>
        <p:spPr>
          <a:xfrm>
            <a:off x="4450080" y="5971032"/>
            <a:ext cx="1612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2030 · +19–22%/ano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6537960" y="5532120"/>
            <a:ext cx="899770" cy="237744"/>
          </a:xfrm>
          <a:prstGeom prst="roundRect">
            <a:avLst>
              <a:gd name="adj" fmla="val 50000"/>
            </a:avLst>
          </a:prstGeom>
          <a:solidFill>
            <a:srgbClr val="37C891">
              <a:alpha val="18000"/>
            </a:srgbClr>
          </a:solidFill>
          <a:ln/>
        </p:spPr>
      </p:sp>
      <p:sp>
        <p:nvSpPr>
          <p:cNvPr id="56" name="Text 53"/>
          <p:cNvSpPr/>
          <p:nvPr/>
        </p:nvSpPr>
        <p:spPr>
          <a:xfrm>
            <a:off x="6537960" y="5532120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sólido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529170" y="5532120"/>
            <a:ext cx="1126541" cy="237744"/>
          </a:xfrm>
          <a:prstGeom prst="roundRect">
            <a:avLst>
              <a:gd name="adj" fmla="val 50000"/>
            </a:avLst>
          </a:prstGeom>
          <a:solidFill>
            <a:srgbClr val="37C891">
              <a:alpha val="18000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7529170" y="5532120"/>
            <a:ext cx="112654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Pagamentos no ar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8747150" y="5532120"/>
            <a:ext cx="729691" cy="237744"/>
          </a:xfrm>
          <a:prstGeom prst="roundRect">
            <a:avLst>
              <a:gd name="adj" fmla="val 50000"/>
            </a:avLst>
          </a:prstGeom>
          <a:solidFill>
            <a:srgbClr val="37C891">
              <a:alpha val="18000"/>
            </a:srgbClr>
          </a:solidFill>
          <a:ln/>
        </p:spPr>
      </p:sp>
      <p:sp>
        <p:nvSpPr>
          <p:cNvPr id="60" name="Text 57"/>
          <p:cNvSpPr/>
          <p:nvPr/>
        </p:nvSpPr>
        <p:spPr>
          <a:xfrm>
            <a:off x="8747150" y="5532120"/>
            <a:ext cx="7296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Trilíngue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6537960" y="5843016"/>
            <a:ext cx="2203704" cy="237744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62" name="Text 59"/>
          <p:cNvSpPr/>
          <p:nvPr/>
        </p:nvSpPr>
        <p:spPr>
          <a:xfrm>
            <a:off x="6537960" y="5843016"/>
            <a:ext cx="220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Conectores sem teste em tenant real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8833104" y="5843016"/>
            <a:ext cx="1126541" cy="237744"/>
          </a:xfrm>
          <a:prstGeom prst="roundRect">
            <a:avLst>
              <a:gd name="adj" fmla="val 50000"/>
            </a:avLst>
          </a:prstGeom>
          <a:solidFill>
            <a:srgbClr val="E0685C">
              <a:alpha val="18000"/>
            </a:srgbClr>
          </a:solidFill>
          <a:ln/>
        </p:spPr>
      </p:sp>
      <p:sp>
        <p:nvSpPr>
          <p:cNvPr id="64" name="Text 61"/>
          <p:cNvSpPr/>
          <p:nvPr/>
        </p:nvSpPr>
        <p:spPr>
          <a:xfrm>
            <a:off x="8833104" y="5843016"/>
            <a:ext cx="112654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clientes ainda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10051085" y="5843016"/>
            <a:ext cx="1069848" cy="237744"/>
          </a:xfrm>
          <a:prstGeom prst="roundRect">
            <a:avLst>
              <a:gd name="adj" fmla="val 50000"/>
            </a:avLst>
          </a:prstGeom>
          <a:solidFill>
            <a:srgbClr val="E0685C">
              <a:alpha val="18000"/>
            </a:srgbClr>
          </a:solidFill>
          <a:ln/>
        </p:spPr>
      </p:sp>
      <p:sp>
        <p:nvSpPr>
          <p:cNvPr id="66" name="Text 63"/>
          <p:cNvSpPr/>
          <p:nvPr/>
        </p:nvSpPr>
        <p:spPr>
          <a:xfrm>
            <a:off x="10051085" y="5843016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SOC 2 / ISO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6537960" y="6153912"/>
            <a:ext cx="899770" cy="237744"/>
          </a:xfrm>
          <a:prstGeom prst="roundRect">
            <a:avLst>
              <a:gd name="adj" fmla="val 50000"/>
            </a:avLst>
          </a:prstGeom>
          <a:solidFill>
            <a:srgbClr val="E0685C">
              <a:alpha val="18000"/>
            </a:srgbClr>
          </a:solidFill>
          <a:ln/>
        </p:spPr>
      </p:sp>
      <p:sp>
        <p:nvSpPr>
          <p:cNvPr id="68" name="Text 65"/>
          <p:cNvSpPr/>
          <p:nvPr/>
        </p:nvSpPr>
        <p:spPr>
          <a:xfrm>
            <a:off x="6537960" y="6153912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factor 1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457200" y="6272784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228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58368" y="6336792"/>
            <a:ext cx="7068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próximo passo: um piloto pago com uma financeira média.</a:t>
            </a:r>
            <a:endParaRPr lang="en-US" sz="1150" dirty="0"/>
          </a:p>
        </p:txBody>
      </p:sp>
      <p:sp>
        <p:nvSpPr>
          <p:cNvPr id="71" name="Text 68"/>
          <p:cNvSpPr/>
          <p:nvPr/>
        </p:nvSpPr>
        <p:spPr>
          <a:xfrm>
            <a:off x="658368" y="6528816"/>
            <a:ext cx="7068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local sem atrito → projeto de implementação → software rodando. Não precisamos de capital para começar; sim para comprimir 18 meses em 9.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7799832" y="62727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Martín Viera</a:t>
            </a:r>
            <a:pPr algn="r" indent="0" marL="0">
              <a:buNone/>
            </a:pPr>
            <a:r>
              <a:rPr lang="en-US" sz="9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VieraSchiavi   ·   vieraschiavi@gmail.com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VieraSchiavi</dc:creator>
  <cp:lastModifiedBy>VieraSchiavi</cp:lastModifiedBy>
  <cp:revision>1</cp:revision>
  <dcterms:created xsi:type="dcterms:W3CDTF">2026-07-26T19:10:20Z</dcterms:created>
  <dcterms:modified xsi:type="dcterms:W3CDTF">2026-07-26T19:10:20Z</dcterms:modified>
</cp:coreProperties>
</file>